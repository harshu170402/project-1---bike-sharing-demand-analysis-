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Plus Jakarta Sans"/>
      <p:regular r:id="rId19"/>
      <p:bold r:id="rId20"/>
      <p:italic r:id="rId21"/>
      <p:boldItalic r:id="rId22"/>
    </p:embeddedFont>
    <p:embeddedFont>
      <p:font typeface="Space Grotesk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35">
          <p15:clr>
            <a:srgbClr val="A4A3A4"/>
          </p15:clr>
        </p15:guide>
        <p15:guide id="2" pos="2874">
          <p15:clr>
            <a:srgbClr val="A4A3A4"/>
          </p15:clr>
        </p15:guide>
      </p15:sldGuideLst>
    </p:ext>
    <p:ext uri="GoogleSlidesCustomDataVersion2">
      <go:slidesCustomData xmlns:go="http://customooxmlschemas.google.com/" r:id="rId25" roundtripDataSignature="AMtx7mjA+G26Bh6WlYgeKZpkX9FCYNHs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EC3FE4B-8A84-4C5B-8AF8-3F78AD5F31E0}">
  <a:tblStyle styleId="{4EC3FE4B-8A84-4C5B-8AF8-3F78AD5F31E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35" orient="horz"/>
        <p:guide pos="287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usJakartaSans-bold.fntdata"/><Relationship Id="rId22" Type="http://schemas.openxmlformats.org/officeDocument/2006/relationships/font" Target="fonts/PlusJakartaSans-boldItalic.fntdata"/><Relationship Id="rId21" Type="http://schemas.openxmlformats.org/officeDocument/2006/relationships/font" Target="fonts/PlusJakartaSans-italic.fntdata"/><Relationship Id="rId24" Type="http://schemas.openxmlformats.org/officeDocument/2006/relationships/font" Target="fonts/SpaceGrotesk-bold.fntdata"/><Relationship Id="rId23" Type="http://schemas.openxmlformats.org/officeDocument/2006/relationships/font" Target="fonts/SpaceGrotesk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PlusJakartaSans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2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22.png"/><Relationship Id="rId5" Type="http://schemas.openxmlformats.org/officeDocument/2006/relationships/image" Target="../media/image5.png"/><Relationship Id="rId6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5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Relationship Id="rId4" Type="http://schemas.openxmlformats.org/officeDocument/2006/relationships/image" Target="../media/image15.png"/><Relationship Id="rId10" Type="http://schemas.openxmlformats.org/officeDocument/2006/relationships/image" Target="../media/image3.png"/><Relationship Id="rId9" Type="http://schemas.openxmlformats.org/officeDocument/2006/relationships/image" Target="../media/image19.png"/><Relationship Id="rId5" Type="http://schemas.openxmlformats.org/officeDocument/2006/relationships/image" Target="../media/image4.png"/><Relationship Id="rId6" Type="http://schemas.openxmlformats.org/officeDocument/2006/relationships/image" Target="../media/image12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609600" y="4341465"/>
            <a:ext cx="10972800" cy="704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609600" y="4341465"/>
            <a:ext cx="109728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609600" y="1811684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NEXTHIKES IT SOLUTIONS | FINAL PROJECT REPORT</a:t>
            </a:r>
            <a:endParaRPr b="1" i="0" sz="1050" u="none" cap="none" strike="noStrike">
              <a:solidFill>
                <a:srgbClr val="38BDF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609600" y="2059334"/>
            <a:ext cx="9701212" cy="1139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Bike Sharing Demand Analysis &amp; BI Intelligence Dashboard</a:t>
            </a:r>
            <a:endParaRPr b="1" i="0" sz="3900" u="none" cap="none" strike="noStrike">
              <a:solidFill>
                <a:srgbClr val="F8FAFC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609600" y="3388965"/>
            <a:ext cx="7905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End-to-End Excel Data Pipeline, Weather Impact Modeling, User Segment Profiling, and Automated Business Intelligence Reporting</a:t>
            </a:r>
            <a:endParaRPr b="0" i="0" sz="1500" u="none" cap="none" strike="noStrike">
              <a:solidFill>
                <a:srgbClr val="94A3B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609600" y="4617690"/>
            <a:ext cx="189309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SUBMISSION DEADLINE</a:t>
            </a:r>
            <a:endParaRPr b="0" i="0" sz="1050" u="none" cap="none" strike="noStrike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609600" y="4827240"/>
            <a:ext cx="18930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October 10, 2026</a:t>
            </a:r>
            <a:endParaRPr b="1" i="0" sz="1350" u="none" cap="none" strike="noStrike">
              <a:solidFill>
                <a:srgbClr val="38BDF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2505075" y="4617690"/>
            <a:ext cx="508396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PROJECT TOOLSTACK</a:t>
            </a:r>
            <a:endParaRPr b="0" i="0" sz="1050" u="none" cap="none" strike="noStrike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2505075" y="4827240"/>
            <a:ext cx="508396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Excel, Power Query, Pivot Engine, VBA &amp; AI Tools</a:t>
            </a:r>
            <a:endParaRPr b="1" i="0" sz="1350" u="none" cap="none" strike="noStrike">
              <a:solidFill>
                <a:srgbClr val="F8FAFC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6953250" y="4617690"/>
            <a:ext cx="307181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ANALYTICS FOCUS</a:t>
            </a:r>
            <a:endParaRPr b="0" i="0" sz="1050" u="none" cap="none" strike="noStrike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6953250" y="4827240"/>
            <a:ext cx="307181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ADE8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Predictive Fleet Optimization</a:t>
            </a:r>
            <a:endParaRPr b="1" i="0" sz="1350" u="none" cap="none" strike="noStrike">
              <a:solidFill>
                <a:srgbClr val="4ADE8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/>
          <p:cNvSpPr/>
          <p:nvPr/>
        </p:nvSpPr>
        <p:spPr>
          <a:xfrm>
            <a:off x="609600" y="1314450"/>
            <a:ext cx="3505200" cy="5086350"/>
          </a:xfrm>
          <a:prstGeom prst="roundRect">
            <a:avLst>
              <a:gd fmla="val 326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4343400" y="1314450"/>
            <a:ext cx="3505200" cy="5086350"/>
          </a:xfrm>
          <a:prstGeom prst="roundRect">
            <a:avLst>
              <a:gd fmla="val 326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8077200" y="1314450"/>
            <a:ext cx="3505200" cy="5086350"/>
          </a:xfrm>
          <a:prstGeom prst="roundRect">
            <a:avLst>
              <a:gd fmla="val 326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6" name="Google Shape;10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725" y="15621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81525" y="15621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15325" y="1562100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PROJECT OVERVIEW</a:t>
            </a:r>
            <a:endParaRPr b="1" i="0" sz="1050" u="none" cap="none" strike="noStrike">
              <a:solidFill>
                <a:srgbClr val="0284C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Business Situation &amp; Core Objectives</a:t>
            </a:r>
            <a:endParaRPr b="1" i="0" sz="2400" u="none" cap="none" strike="noStrike">
              <a:solidFill>
                <a:srgbClr val="0F172A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1190625" y="1552575"/>
            <a:ext cx="2675334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Operational Challenge</a:t>
            </a:r>
            <a:endParaRPr b="1" i="0" sz="1500" u="none" cap="none" strike="noStrike">
              <a:solidFill>
                <a:srgbClr val="0F172A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847725" y="1952625"/>
            <a:ext cx="3124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High Volatility: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Unpredictable hourly demand spikes across urban transit hubs.</a:t>
            </a:r>
            <a:endParaRPr b="0" i="0" sz="1350" u="none" cap="none" strike="noStrike">
              <a:solidFill>
                <a:schemeClr val="accen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847725" y="2838450"/>
            <a:ext cx="31242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Weather Sensitivity: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Sudden rainfall drops casual rider volume by over 80%.</a:t>
            </a:r>
            <a:endParaRPr b="0" i="0" sz="1350" u="none" cap="none" strike="noStrike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4" name="Google Shape;114;p2"/>
          <p:cNvSpPr txBox="1"/>
          <p:nvPr/>
        </p:nvSpPr>
        <p:spPr>
          <a:xfrm>
            <a:off x="847725" y="3724275"/>
            <a:ext cx="31242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Fleet Imbalance: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Severe bike shortages during morning rush hours at key commuter stops.</a:t>
            </a:r>
            <a:endParaRPr b="0" i="0" sz="1350" u="none" cap="none" strike="noStrike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4924425" y="1552575"/>
            <a:ext cx="248781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Strategic Objectives</a:t>
            </a:r>
            <a:endParaRPr b="1" i="0" sz="1500" u="none" cap="none" strike="noStrike">
              <a:solidFill>
                <a:srgbClr val="0F172A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16" name="Google Shape;116;p2"/>
          <p:cNvSpPr txBox="1"/>
          <p:nvPr/>
        </p:nvSpPr>
        <p:spPr>
          <a:xfrm>
            <a:off x="4581525" y="1952625"/>
            <a:ext cx="31242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Commuter Intelligence: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Isolate registered vs. casual user usage patterns.</a:t>
            </a:r>
            <a:endParaRPr b="0" i="0" sz="1350" u="none" cap="none" strike="noStrike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7" name="Google Shape;117;p2"/>
          <p:cNvSpPr txBox="1"/>
          <p:nvPr/>
        </p:nvSpPr>
        <p:spPr>
          <a:xfrm>
            <a:off x="4581525" y="2838450"/>
            <a:ext cx="31242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Rebalancing Model: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Optimize station replenishment schedules based on time slots.</a:t>
            </a:r>
            <a:endParaRPr b="0" i="0" sz="1350" u="none" cap="none" strike="noStrike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4581525" y="3724275"/>
            <a:ext cx="31242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Risk Mitigation: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Develop dynamic weather elasticity models to prevent stockouts.</a:t>
            </a:r>
            <a:endParaRPr b="0" i="0" sz="1350" u="none" cap="none" strike="noStrike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9" name="Google Shape;119;p2"/>
          <p:cNvSpPr txBox="1"/>
          <p:nvPr/>
        </p:nvSpPr>
        <p:spPr>
          <a:xfrm>
            <a:off x="8715375" y="1552575"/>
            <a:ext cx="1975246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Technical Scope</a:t>
            </a:r>
            <a:endParaRPr b="1" i="0" sz="1500" u="none" cap="none" strike="noStrike">
              <a:solidFill>
                <a:srgbClr val="0F172A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20" name="Google Shape;120;p2"/>
          <p:cNvSpPr txBox="1"/>
          <p:nvPr/>
        </p:nvSpPr>
        <p:spPr>
          <a:xfrm>
            <a:off x="8315325" y="1952625"/>
            <a:ext cx="31242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 Integration: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Merge 3 disparate datasets via Power Query &amp; INDEX/MATCH.</a:t>
            </a:r>
            <a:endParaRPr b="0" i="0" sz="1350" u="none" cap="none" strike="noStrike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1" name="Google Shape;121;p2"/>
          <p:cNvSpPr txBox="1"/>
          <p:nvPr/>
        </p:nvSpPr>
        <p:spPr>
          <a:xfrm>
            <a:off x="8315325" y="2838450"/>
            <a:ext cx="31242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Interactive BI: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Build Excel dashboard with dynamic slicers &amp; timelines.</a:t>
            </a:r>
            <a:endParaRPr b="0" i="0" sz="1350" u="none" cap="none" strike="noStrike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2" name="Google Shape;122;p2"/>
          <p:cNvSpPr txBox="1"/>
          <p:nvPr/>
        </p:nvSpPr>
        <p:spPr>
          <a:xfrm>
            <a:off x="8315325" y="3467100"/>
            <a:ext cx="31242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Macro Automation: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Deploy VBA macros for automated report generation.</a:t>
            </a:r>
            <a:endParaRPr b="0" i="0" sz="1350" u="none" cap="none" strike="noStrike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"/>
          <p:cNvSpPr/>
          <p:nvPr/>
        </p:nvSpPr>
        <p:spPr>
          <a:xfrm>
            <a:off x="609600" y="1314450"/>
            <a:ext cx="6636990" cy="5086350"/>
          </a:xfrm>
          <a:prstGeom prst="roundRect">
            <a:avLst>
              <a:gd fmla="val 224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7475190" y="1314450"/>
            <a:ext cx="4107209" cy="1295400"/>
          </a:xfrm>
          <a:prstGeom prst="roundRect">
            <a:avLst>
              <a:gd fmla="val 882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/>
          <p:nvPr/>
        </p:nvSpPr>
        <p:spPr>
          <a:xfrm>
            <a:off x="7475190" y="2762250"/>
            <a:ext cx="4107209" cy="1295400"/>
          </a:xfrm>
          <a:prstGeom prst="roundRect">
            <a:avLst>
              <a:gd fmla="val 882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0" name="Google Shape;13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13315" y="157162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3315" y="3019425"/>
            <a:ext cx="133350" cy="1524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2" name="Google Shape;132;p3"/>
          <p:cNvGraphicFramePr/>
          <p:nvPr/>
        </p:nvGraphicFramePr>
        <p:xfrm>
          <a:off x="847725" y="1924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{4EC3FE4B-8A84-4C5B-8AF8-3F78AD5F31E0}</a:tableStyleId>
              </a:tblPr>
              <a:tblGrid>
                <a:gridCol w="1869125"/>
                <a:gridCol w="2861825"/>
                <a:gridCol w="1429800"/>
              </a:tblGrid>
              <a:tr h="55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Source Table</a:t>
                      </a:r>
                      <a:endParaRPr b="1" i="0" sz="1125" u="none" cap="none" strike="noStrike">
                        <a:solidFill>
                          <a:srgbClr val="475569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Primary Fields Captured</a:t>
                      </a:r>
                      <a:endParaRPr b="1" i="0" sz="1125" u="none" cap="none" strike="noStrike">
                        <a:solidFill>
                          <a:srgbClr val="475569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Relational Keys</a:t>
                      </a:r>
                      <a:endParaRPr b="1" i="0" sz="1125" u="none" cap="none" strike="noStrike">
                        <a:solidFill>
                          <a:srgbClr val="475569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5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284C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Dataset_1 (Temporal)</a:t>
                      </a:r>
                      <a:endParaRPr b="1" i="0" sz="1125" u="none" cap="none" strike="noStrike">
                        <a:solidFill>
                          <a:srgbClr val="0284C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1E293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instant,  dteday, season, hr, holiday, weekday</a:t>
                      </a:r>
                      <a:endParaRPr b="0" i="0" sz="1125" u="none" cap="none" strike="noStrike">
                        <a:solidFill>
                          <a:srgbClr val="1E293B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1E293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instant,  dteday</a:t>
                      </a:r>
                      <a:endParaRPr b="1" i="0" sz="1125" u="none" cap="none" strike="noStrike">
                        <a:solidFill>
                          <a:srgbClr val="1E293B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5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284C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Dataset_2 (Environmental)</a:t>
                      </a:r>
                      <a:endParaRPr b="1" i="0" sz="1125" u="none" cap="none" strike="noStrike">
                        <a:solidFill>
                          <a:srgbClr val="0284C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1E293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weathersit, temp, atemp, hum, windspeed</a:t>
                      </a:r>
                      <a:endParaRPr b="0" i="0" sz="1125" u="none" cap="none" strike="noStrike">
                        <a:solidFill>
                          <a:srgbClr val="1E293B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1E293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instant</a:t>
                      </a:r>
                      <a:endParaRPr b="1" i="0" sz="1125" u="none" cap="none" strike="noStrike">
                        <a:solidFill>
                          <a:srgbClr val="1E293B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5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284C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Dataset_3 (Ridership)</a:t>
                      </a:r>
                      <a:endParaRPr b="1" i="0" sz="1125" u="none" cap="none" strike="noStrike">
                        <a:solidFill>
                          <a:srgbClr val="0284C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1E293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casual, registered, cnt</a:t>
                      </a:r>
                      <a:endParaRPr b="0" i="0" sz="1125" u="none" cap="none" strike="noStrike">
                        <a:solidFill>
                          <a:srgbClr val="1E293B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1E293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instant,  dteday, hr</a:t>
                      </a:r>
                      <a:endParaRPr b="1" i="0" sz="1125" u="none" cap="none" strike="noStrike">
                        <a:solidFill>
                          <a:srgbClr val="1E293B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3" name="Google Shape;133;p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DATASET OVERVIEW</a:t>
            </a:r>
            <a:endParaRPr b="1" i="0" sz="1050" u="none" cap="none" strike="noStrike">
              <a:solidFill>
                <a:srgbClr val="0284C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4" name="Google Shape;134;p3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Data Architecture &amp; Table Integration</a:t>
            </a:r>
            <a:endParaRPr b="1" i="0" sz="2400" u="none" cap="none" strike="noStrike">
              <a:solidFill>
                <a:srgbClr val="0F172A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35" name="Google Shape;135;p3"/>
          <p:cNvSpPr txBox="1"/>
          <p:nvPr/>
        </p:nvSpPr>
        <p:spPr>
          <a:xfrm>
            <a:off x="847725" y="1552575"/>
            <a:ext cx="808597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Multi-Source Data Schema</a:t>
            </a:r>
            <a:endParaRPr b="1" i="0" sz="1350" u="none" cap="none" strike="noStrike">
              <a:solidFill>
                <a:srgbClr val="0F172A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36" name="Google Shape;136;p3"/>
          <p:cNvSpPr txBox="1"/>
          <p:nvPr/>
        </p:nvSpPr>
        <p:spPr>
          <a:xfrm>
            <a:off x="7713315" y="1552575"/>
            <a:ext cx="4478684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Power Query Merge Strategy</a:t>
            </a:r>
            <a:endParaRPr b="1" i="0" sz="1200" u="none" cap="none" strike="noStrike">
              <a:solidFill>
                <a:srgbClr val="0F172A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37" name="Google Shape;137;p3"/>
          <p:cNvSpPr txBox="1"/>
          <p:nvPr/>
        </p:nvSpPr>
        <p:spPr>
          <a:xfrm>
            <a:off x="7713315" y="1828800"/>
            <a:ext cx="37263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Executed full inner joins across composite keys </a:t>
            </a:r>
            <a:r>
              <a:rPr b="1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(instant +  dteday +  hr)</a:t>
            </a: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ensuring 100% record alignment without orphaned rental logs.</a:t>
            </a:r>
            <a:endParaRPr b="0" i="0" sz="1125" u="none" cap="none" strike="noStrike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8" name="Google Shape;138;p3"/>
          <p:cNvSpPr txBox="1"/>
          <p:nvPr/>
        </p:nvSpPr>
        <p:spPr>
          <a:xfrm>
            <a:off x="7713315" y="3000375"/>
            <a:ext cx="4478684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Data Scale &amp; Granularity</a:t>
            </a:r>
            <a:endParaRPr b="1" i="0" sz="1200" u="none" cap="none" strike="noStrike">
              <a:solidFill>
                <a:srgbClr val="0F172A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39" name="Google Shape;139;p3"/>
          <p:cNvSpPr txBox="1"/>
          <p:nvPr/>
        </p:nvSpPr>
        <p:spPr>
          <a:xfrm>
            <a:off x="7713315" y="3276600"/>
            <a:ext cx="3726209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Granularity: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Hourly observations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Time Horizon: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Multi-year rental logs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Completeness: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Zero missing key IDs</a:t>
            </a:r>
            <a:endParaRPr b="0" i="0" sz="1125" u="none" cap="none" strike="noStrike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"/>
          <p:cNvSpPr/>
          <p:nvPr/>
        </p:nvSpPr>
        <p:spPr>
          <a:xfrm>
            <a:off x="609600" y="1314450"/>
            <a:ext cx="2600325" cy="5086350"/>
          </a:xfrm>
          <a:prstGeom prst="roundRect">
            <a:avLst>
              <a:gd fmla="val 4395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6191250" y="1314450"/>
            <a:ext cx="2600325" cy="5086350"/>
          </a:xfrm>
          <a:prstGeom prst="roundRect">
            <a:avLst>
              <a:gd fmla="val 4395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8982075" y="1314450"/>
            <a:ext cx="2600325" cy="5086350"/>
          </a:xfrm>
          <a:prstGeom prst="roundRect">
            <a:avLst>
              <a:gd fmla="val 4395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847725" y="1552575"/>
            <a:ext cx="304800" cy="304800"/>
          </a:xfrm>
          <a:prstGeom prst="roundRect">
            <a:avLst>
              <a:gd fmla="val 50000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3638550" y="1552575"/>
            <a:ext cx="304800" cy="304800"/>
          </a:xfrm>
          <a:prstGeom prst="roundRect">
            <a:avLst>
              <a:gd fmla="val 50000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6429375" y="1552575"/>
            <a:ext cx="304800" cy="304800"/>
          </a:xfrm>
          <a:prstGeom prst="roundRect">
            <a:avLst>
              <a:gd fmla="val 50000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9220200" y="1552575"/>
            <a:ext cx="304800" cy="304800"/>
          </a:xfrm>
          <a:prstGeom prst="roundRect">
            <a:avLst>
              <a:gd fmla="val 50000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 PIPELINE</a:t>
            </a:r>
            <a:endParaRPr b="1" i="0" sz="1050" u="none" cap="none" strike="noStrike">
              <a:solidFill>
                <a:srgbClr val="0284C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52" name="Google Shape;152;p4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Data Cleaning, Anomaly Detection &amp; Engineering</a:t>
            </a:r>
            <a:endParaRPr b="1" i="0" sz="2400" u="none" cap="none" strike="noStrike">
              <a:solidFill>
                <a:srgbClr val="0F172A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53" name="Google Shape;153;p4"/>
          <p:cNvSpPr txBox="1"/>
          <p:nvPr/>
        </p:nvSpPr>
        <p:spPr>
          <a:xfrm>
            <a:off x="704850" y="1552575"/>
            <a:ext cx="5905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</a:t>
            </a:r>
            <a:endParaRPr b="1" i="0" sz="1200" u="none" cap="none" strike="noStrike">
              <a:solidFill>
                <a:srgbClr val="FFF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54" name="Google Shape;154;p4"/>
          <p:cNvSpPr txBox="1"/>
          <p:nvPr/>
        </p:nvSpPr>
        <p:spPr>
          <a:xfrm>
            <a:off x="847725" y="2009775"/>
            <a:ext cx="278784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Missing Value Imputation</a:t>
            </a:r>
            <a:endParaRPr b="1" i="0" sz="1350" u="none" cap="none" strike="noStrike">
              <a:solidFill>
                <a:srgbClr val="0F172A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55" name="Google Shape;155;p4"/>
          <p:cNvSpPr txBox="1"/>
          <p:nvPr/>
        </p:nvSpPr>
        <p:spPr>
          <a:xfrm>
            <a:off x="847725" y="2343150"/>
            <a:ext cx="2219325" cy="10715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Identified missing weather entries in Dataset 2; filled using forward-fill linear interpolation based on adjacent hourly records.</a:t>
            </a:r>
            <a:endParaRPr b="0" i="0" sz="1125" u="none" cap="none" strike="noStrike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56" name="Google Shape;156;p4"/>
          <p:cNvSpPr txBox="1"/>
          <p:nvPr/>
        </p:nvSpPr>
        <p:spPr>
          <a:xfrm>
            <a:off x="3495675" y="1552575"/>
            <a:ext cx="5905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</a:t>
            </a:r>
            <a:endParaRPr b="1" i="0" sz="1200" u="none" cap="none" strike="noStrike">
              <a:solidFill>
                <a:srgbClr val="FFF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57" name="Google Shape;157;p4"/>
          <p:cNvSpPr txBox="1"/>
          <p:nvPr/>
        </p:nvSpPr>
        <p:spPr>
          <a:xfrm>
            <a:off x="3638550" y="2009775"/>
            <a:ext cx="2330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Deduplication &amp; Data types</a:t>
            </a:r>
            <a:endParaRPr b="1" i="0" sz="1350" u="none" cap="none" strike="noStrike">
              <a:solidFill>
                <a:srgbClr val="0F172A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58" name="Google Shape;158;p4"/>
          <p:cNvSpPr txBox="1"/>
          <p:nvPr/>
        </p:nvSpPr>
        <p:spPr>
          <a:xfrm>
            <a:off x="3638550" y="2562225"/>
            <a:ext cx="2219400" cy="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Removed duplicate hour timestamps. Converted text fields into ISO standard dates (dteday) and integer flags.</a:t>
            </a:r>
            <a:endParaRPr b="0" i="0" sz="1125" u="none" cap="none" strike="noStrike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59" name="Google Shape;159;p4"/>
          <p:cNvSpPr txBox="1"/>
          <p:nvPr/>
        </p:nvSpPr>
        <p:spPr>
          <a:xfrm>
            <a:off x="6286500" y="1552575"/>
            <a:ext cx="5905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</a:t>
            </a:r>
            <a:endParaRPr b="1" i="0" sz="1200" u="none" cap="none" strike="noStrike">
              <a:solidFill>
                <a:srgbClr val="FFF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60" name="Google Shape;160;p4"/>
          <p:cNvSpPr txBox="1"/>
          <p:nvPr/>
        </p:nvSpPr>
        <p:spPr>
          <a:xfrm>
            <a:off x="6429375" y="2009775"/>
            <a:ext cx="278784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Anomaly Detection</a:t>
            </a:r>
            <a:endParaRPr b="1" i="0" sz="1350" u="none" cap="none" strike="noStrike">
              <a:solidFill>
                <a:srgbClr val="0F172A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1" name="Google Shape;161;p4"/>
          <p:cNvSpPr txBox="1"/>
          <p:nvPr/>
        </p:nvSpPr>
        <p:spPr>
          <a:xfrm>
            <a:off x="6429375" y="2343150"/>
            <a:ext cx="2219325" cy="10715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Applied 1.5x IQR thresholds to detect extreme rental spikes during unseasonal weather, flagging outliers for BI filter isolation.</a:t>
            </a:r>
            <a:endParaRPr b="0" i="0" sz="1125" u="none" cap="none" strike="noStrike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62" name="Google Shape;162;p4"/>
          <p:cNvSpPr txBox="1"/>
          <p:nvPr/>
        </p:nvSpPr>
        <p:spPr>
          <a:xfrm>
            <a:off x="9077325" y="1552575"/>
            <a:ext cx="5905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</a:t>
            </a:r>
            <a:endParaRPr b="1" i="0" sz="1200" u="none" cap="none" strike="noStrike">
              <a:solidFill>
                <a:srgbClr val="FFF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63" name="Google Shape;163;p4"/>
          <p:cNvSpPr txBox="1"/>
          <p:nvPr/>
        </p:nvSpPr>
        <p:spPr>
          <a:xfrm>
            <a:off x="9220200" y="2009775"/>
            <a:ext cx="278784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Feature Engineering</a:t>
            </a:r>
            <a:endParaRPr b="1" i="0" sz="1350" u="none" cap="none" strike="noStrike">
              <a:solidFill>
                <a:srgbClr val="0F172A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4" name="Google Shape;164;p4"/>
          <p:cNvSpPr txBox="1"/>
          <p:nvPr/>
        </p:nvSpPr>
        <p:spPr>
          <a:xfrm>
            <a:off x="9220200" y="2343150"/>
            <a:ext cx="2219325" cy="1090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Constructed Day_type (Weekday vs. Weekend), Time_category (Morning/Evening Peak), and Weather Labels.</a:t>
            </a:r>
            <a:endParaRPr b="0" i="0" sz="1125" u="none" cap="none" strike="noStrike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/>
          <p:cNvSpPr/>
          <p:nvPr/>
        </p:nvSpPr>
        <p:spPr>
          <a:xfrm>
            <a:off x="609600" y="5591175"/>
            <a:ext cx="10972800" cy="809625"/>
          </a:xfrm>
          <a:prstGeom prst="roundRect">
            <a:avLst>
              <a:gd fmla="val 14117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609600" y="1314450"/>
            <a:ext cx="5824091" cy="4086225"/>
          </a:xfrm>
          <a:prstGeom prst="roundRect">
            <a:avLst>
              <a:gd fmla="val 279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6662291" y="1314450"/>
            <a:ext cx="4920108" cy="4086225"/>
          </a:xfrm>
          <a:prstGeom prst="roundRect">
            <a:avLst>
              <a:gd fmla="val 279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2" name="Google Shape;172;p5"/>
          <p:cNvGraphicFramePr/>
          <p:nvPr/>
        </p:nvGraphicFramePr>
        <p:xfrm>
          <a:off x="809625" y="182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{4EC3FE4B-8A84-4C5B-8AF8-3F78AD5F31E0}</a:tableStyleId>
              </a:tblPr>
              <a:tblGrid>
                <a:gridCol w="1929250"/>
                <a:gridCol w="727925"/>
                <a:gridCol w="788650"/>
                <a:gridCol w="764375"/>
                <a:gridCol w="1213850"/>
              </a:tblGrid>
              <a:tr h="363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Variable</a:t>
                      </a:r>
                      <a:endParaRPr b="1" i="0" sz="1050" u="none" cap="none" strike="noStrike">
                        <a:solidFill>
                          <a:srgbClr val="475569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Mean</a:t>
                      </a:r>
                      <a:endParaRPr b="1" i="0" sz="1050" u="none" cap="none" strike="noStrike">
                        <a:solidFill>
                          <a:srgbClr val="475569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Std Dev</a:t>
                      </a:r>
                      <a:endParaRPr b="1" i="0" sz="1050" u="none" cap="none" strike="noStrike">
                        <a:solidFill>
                          <a:srgbClr val="475569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Median</a:t>
                      </a:r>
                      <a:endParaRPr b="1" i="0" sz="1050" u="none" cap="none" strike="noStrike">
                        <a:solidFill>
                          <a:srgbClr val="475569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Min – Max</a:t>
                      </a:r>
                      <a:endParaRPr b="1" i="0" sz="1050" u="none" cap="none" strike="noStrike">
                        <a:solidFill>
                          <a:srgbClr val="475569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363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Total Demand (Count)</a:t>
                      </a:r>
                      <a:endParaRPr b="1" i="0" sz="1050" u="none" cap="none" strike="noStrike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284C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58.3</a:t>
                      </a:r>
                      <a:endParaRPr b="1" i="0" sz="1050" u="none" cap="none" strike="noStrike">
                        <a:solidFill>
                          <a:srgbClr val="0284C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1E293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42.1</a:t>
                      </a:r>
                      <a:endParaRPr b="0" i="0" sz="1050" u="none" cap="none" strike="noStrike">
                        <a:solidFill>
                          <a:srgbClr val="1E293B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1E293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48.0</a:t>
                      </a:r>
                      <a:endParaRPr b="0" i="0" sz="1050" u="none" cap="none" strike="noStrike">
                        <a:solidFill>
                          <a:srgbClr val="1E293B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1E293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 – 235</a:t>
                      </a:r>
                      <a:endParaRPr b="0" i="0" sz="1050" u="none" cap="none" strike="noStrike">
                        <a:solidFill>
                          <a:srgbClr val="1E293B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363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Temperature (°C)</a:t>
                      </a:r>
                      <a:endParaRPr b="1" i="0" sz="1050" u="none" cap="none" strike="noStrike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1E293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20.2°C</a:t>
                      </a:r>
                      <a:endParaRPr b="0" i="0" sz="1050" u="none" cap="none" strike="noStrike">
                        <a:solidFill>
                          <a:srgbClr val="1E293B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1E293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7.8°C</a:t>
                      </a:r>
                      <a:endParaRPr b="0" i="0" sz="1050" u="none" cap="none" strike="noStrike">
                        <a:solidFill>
                          <a:srgbClr val="1E293B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1E293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20.0°C</a:t>
                      </a:r>
                      <a:endParaRPr b="0" i="0" sz="1050" u="none" cap="none" strike="noStrike">
                        <a:solidFill>
                          <a:srgbClr val="1E293B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1E293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0.8°C – 39°C</a:t>
                      </a:r>
                      <a:endParaRPr b="0" i="0" sz="1050" u="none" cap="none" strike="noStrike">
                        <a:solidFill>
                          <a:srgbClr val="1E293B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363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Humidity (%)</a:t>
                      </a:r>
                      <a:endParaRPr b="1" i="0" sz="1050" u="none" cap="none" strike="noStrike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1E293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62.5%</a:t>
                      </a:r>
                      <a:endParaRPr b="0" i="0" sz="1050" u="none" cap="none" strike="noStrike">
                        <a:solidFill>
                          <a:srgbClr val="1E293B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1E293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19.2%</a:t>
                      </a:r>
                      <a:endParaRPr b="0" i="0" sz="1050" u="none" cap="none" strike="noStrike">
                        <a:solidFill>
                          <a:srgbClr val="1E293B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1E293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63.0%</a:t>
                      </a:r>
                      <a:endParaRPr b="0" i="0" sz="1050" u="none" cap="none" strike="noStrike">
                        <a:solidFill>
                          <a:srgbClr val="1E293B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1E293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0% – 100%</a:t>
                      </a:r>
                      <a:endParaRPr b="0" i="0" sz="1050" u="none" cap="none" strike="noStrike">
                        <a:solidFill>
                          <a:srgbClr val="1E293B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363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Windspeed (km/h)</a:t>
                      </a:r>
                      <a:endParaRPr b="1" i="0" sz="1050" u="none" cap="none" strike="noStrike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1E293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12.8</a:t>
                      </a:r>
                      <a:endParaRPr b="0" i="0" sz="1050" u="none" cap="none" strike="noStrike">
                        <a:solidFill>
                          <a:srgbClr val="1E293B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1E293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8.3</a:t>
                      </a:r>
                      <a:endParaRPr b="0" i="0" sz="1050" u="none" cap="none" strike="noStrike">
                        <a:solidFill>
                          <a:srgbClr val="1E293B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1E293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11.0</a:t>
                      </a:r>
                      <a:endParaRPr b="0" i="0" sz="1050" u="none" cap="none" strike="noStrike">
                        <a:solidFill>
                          <a:srgbClr val="1E293B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1E293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 – 56.0</a:t>
                      </a:r>
                      <a:endParaRPr b="0" i="0" sz="1050" u="none" cap="none" strike="noStrike">
                        <a:solidFill>
                          <a:srgbClr val="1E293B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3" name="Google Shape;173;p5"/>
          <p:cNvGraphicFramePr/>
          <p:nvPr/>
        </p:nvGraphicFramePr>
        <p:xfrm>
          <a:off x="6862316" y="182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{4EC3FE4B-8A84-4C5B-8AF8-3F78AD5F31E0}</a:tableStyleId>
              </a:tblPr>
              <a:tblGrid>
                <a:gridCol w="1542300"/>
                <a:gridCol w="748150"/>
                <a:gridCol w="778675"/>
                <a:gridCol w="794000"/>
                <a:gridCol w="656925"/>
              </a:tblGrid>
              <a:tr h="361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Feature</a:t>
                      </a:r>
                      <a:endParaRPr b="1" i="0" sz="1050" u="none" cap="none" strike="noStrike">
                        <a:solidFill>
                          <a:srgbClr val="475569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Total</a:t>
                      </a:r>
                      <a:endParaRPr b="1" i="0" sz="1050" u="none" cap="none" strike="noStrike">
                        <a:solidFill>
                          <a:srgbClr val="475569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Temp</a:t>
                      </a:r>
                      <a:endParaRPr b="1" i="0" sz="1050" u="none" cap="none" strike="noStrike">
                        <a:solidFill>
                          <a:srgbClr val="475569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Humid</a:t>
                      </a:r>
                      <a:endParaRPr b="1" i="0" sz="1050" u="none" cap="none" strike="noStrike">
                        <a:solidFill>
                          <a:srgbClr val="475569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Wind</a:t>
                      </a:r>
                      <a:endParaRPr b="1" i="0" sz="1050" u="none" cap="none" strike="noStrike">
                        <a:solidFill>
                          <a:srgbClr val="475569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Total Demand</a:t>
                      </a:r>
                      <a:endParaRPr b="1" i="0" sz="1050" u="none" cap="none" strike="noStrike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284C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1.00</a:t>
                      </a:r>
                      <a:endParaRPr b="1" i="0" sz="1050" u="none" cap="none" strike="noStrike">
                        <a:solidFill>
                          <a:srgbClr val="0284C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16A34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+0.40</a:t>
                      </a:r>
                      <a:endParaRPr b="1" i="0" sz="1050" u="none" cap="none" strike="noStrike">
                        <a:solidFill>
                          <a:srgbClr val="16A34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DC2626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-0.32</a:t>
                      </a:r>
                      <a:endParaRPr b="1" i="0" sz="1050" u="none" cap="none" strike="noStrike">
                        <a:solidFill>
                          <a:srgbClr val="DC2626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D97706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-0.15</a:t>
                      </a:r>
                      <a:endParaRPr b="0" i="0" sz="1050" u="none" cap="none" strike="noStrike">
                        <a:solidFill>
                          <a:srgbClr val="D97706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Registered</a:t>
                      </a:r>
                      <a:endParaRPr b="1" i="0" sz="1050" u="none" cap="none" strike="noStrike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284C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+0.94</a:t>
                      </a:r>
                      <a:endParaRPr b="1" i="0" sz="1050" u="none" cap="none" strike="noStrike">
                        <a:solidFill>
                          <a:srgbClr val="0284C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16A34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+0.36</a:t>
                      </a:r>
                      <a:endParaRPr b="1" i="0" sz="1050" u="none" cap="none" strike="noStrike">
                        <a:solidFill>
                          <a:srgbClr val="16A34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DC2626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-0.28</a:t>
                      </a:r>
                      <a:endParaRPr b="0" i="0" sz="1050" u="none" cap="none" strike="noStrike">
                        <a:solidFill>
                          <a:srgbClr val="DC2626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D97706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-0.12</a:t>
                      </a:r>
                      <a:endParaRPr b="0" i="0" sz="1050" u="none" cap="none" strike="noStrike">
                        <a:solidFill>
                          <a:srgbClr val="D97706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Casual</a:t>
                      </a:r>
                      <a:endParaRPr b="1" i="0" sz="1050" u="none" cap="none" strike="noStrike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284C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+0.71</a:t>
                      </a:r>
                      <a:endParaRPr b="1" i="0" sz="1050" u="none" cap="none" strike="noStrike">
                        <a:solidFill>
                          <a:srgbClr val="0284C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16A34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+0.48</a:t>
                      </a:r>
                      <a:endParaRPr b="1" i="0" sz="1050" u="none" cap="none" strike="noStrike">
                        <a:solidFill>
                          <a:srgbClr val="16A34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DC2626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-0.39</a:t>
                      </a:r>
                      <a:endParaRPr b="1" i="0" sz="1050" u="none" cap="none" strike="noStrike">
                        <a:solidFill>
                          <a:srgbClr val="DC2626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D97706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-0.18</a:t>
                      </a:r>
                      <a:endParaRPr b="0" i="0" sz="1050" u="none" cap="none" strike="noStrike">
                        <a:solidFill>
                          <a:srgbClr val="D97706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74" name="Google Shape;174;p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STATISTICAL DEEP DIVE</a:t>
            </a:r>
            <a:endParaRPr b="1" i="0" sz="1050" u="none" cap="none" strike="noStrike">
              <a:solidFill>
                <a:srgbClr val="0284C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75" name="Google Shape;175;p5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Descriptive Statistics &amp; Feature Correlation Matrix</a:t>
            </a:r>
            <a:endParaRPr b="1" i="0" sz="2400" u="none" cap="none" strike="noStrike">
              <a:solidFill>
                <a:srgbClr val="0F172A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76" name="Google Shape;176;p5"/>
          <p:cNvSpPr txBox="1"/>
          <p:nvPr/>
        </p:nvSpPr>
        <p:spPr>
          <a:xfrm>
            <a:off x="838200" y="5781675"/>
            <a:ext cx="106108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Statistical Insight:</a:t>
            </a:r>
            <a:r>
              <a:rPr b="0" i="0" lang="en-US" sz="1125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Temperature displays the strongest positive correlation (</a:t>
            </a:r>
            <a:r>
              <a:rPr b="1" i="0" lang="en-US" sz="1125" u="none" cap="none" strike="noStrike">
                <a:solidFill>
                  <a:srgbClr val="4ADE8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 = +0.40</a:t>
            </a:r>
            <a:r>
              <a:rPr b="0" i="0" lang="en-US" sz="1125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) with overall demand, particularly affecting casual riders (</a:t>
            </a:r>
            <a:r>
              <a:rPr b="1" i="0" lang="en-US" sz="1125" u="none" cap="none" strike="noStrike">
                <a:solidFill>
                  <a:srgbClr val="4ADE8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 = +0.48</a:t>
            </a:r>
            <a:r>
              <a:rPr b="0" i="0" lang="en-US" sz="1125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). Humidity exerts a statistically significant negative drag (</a:t>
            </a:r>
            <a:r>
              <a:rPr b="1" i="0" lang="en-US" sz="1125" u="none" cap="none" strike="noStrike">
                <a:solidFill>
                  <a:srgbClr val="F8717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 = -0.32</a:t>
            </a:r>
            <a:r>
              <a:rPr b="0" i="0" lang="en-US" sz="1125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).</a:t>
            </a:r>
            <a:endParaRPr b="0" i="0" sz="1125" u="none" cap="none" strike="noStrike">
              <a:solidFill>
                <a:srgbClr val="F8FAFC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77" name="Google Shape;177;p5"/>
          <p:cNvSpPr txBox="1"/>
          <p:nvPr/>
        </p:nvSpPr>
        <p:spPr>
          <a:xfrm>
            <a:off x="809625" y="1514475"/>
            <a:ext cx="7119053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Descriptive Summary Metrics</a:t>
            </a:r>
            <a:endParaRPr b="1" i="0" sz="1200" u="none" cap="none" strike="noStrike">
              <a:solidFill>
                <a:srgbClr val="0F172A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78" name="Google Shape;178;p5"/>
          <p:cNvSpPr txBox="1"/>
          <p:nvPr/>
        </p:nvSpPr>
        <p:spPr>
          <a:xfrm>
            <a:off x="6862316" y="1514475"/>
            <a:ext cx="5329683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Pearson Correlation Matrix (r)</a:t>
            </a:r>
            <a:endParaRPr b="1" i="0" sz="1200" u="none" cap="none" strike="noStrike">
              <a:solidFill>
                <a:srgbClr val="0F172A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"/>
          <p:cNvSpPr/>
          <p:nvPr/>
        </p:nvSpPr>
        <p:spPr>
          <a:xfrm>
            <a:off x="609600" y="1314450"/>
            <a:ext cx="6279802" cy="5086350"/>
          </a:xfrm>
          <a:prstGeom prst="roundRect">
            <a:avLst>
              <a:gd fmla="val 224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7118002" y="1314450"/>
            <a:ext cx="4464397" cy="1095375"/>
          </a:xfrm>
          <a:prstGeom prst="roundRect">
            <a:avLst>
              <a:gd fmla="val 1043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7118002" y="2562225"/>
            <a:ext cx="4464397" cy="1276350"/>
          </a:xfrm>
          <a:prstGeom prst="roundRect">
            <a:avLst>
              <a:gd fmla="val 895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7118002" y="3990975"/>
            <a:ext cx="4464397" cy="971550"/>
          </a:xfrm>
          <a:prstGeom prst="roundRect">
            <a:avLst>
              <a:gd fmla="val 11764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866775" y="4127301"/>
            <a:ext cx="1095970" cy="282773"/>
          </a:xfrm>
          <a:prstGeom prst="roundRect">
            <a:avLst>
              <a:gd fmla="val 13473" name="adj"/>
            </a:avLst>
          </a:prstGeom>
          <a:solidFill>
            <a:srgbClr val="EA58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2038945" y="2807047"/>
            <a:ext cx="1095970" cy="1603027"/>
          </a:xfrm>
          <a:prstGeom prst="roundRect">
            <a:avLst>
              <a:gd fmla="val 3476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3211115" y="3561457"/>
            <a:ext cx="1095970" cy="848617"/>
          </a:xfrm>
          <a:prstGeom prst="roundRect">
            <a:avLst>
              <a:gd fmla="val 4489" name="adj"/>
            </a:avLst>
          </a:prstGeom>
          <a:solidFill>
            <a:srgbClr val="EA58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4383285" y="2618482"/>
            <a:ext cx="1095970" cy="1791592"/>
          </a:xfrm>
          <a:prstGeom prst="roundRect">
            <a:avLst>
              <a:gd fmla="val 3476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5555456" y="3844379"/>
            <a:ext cx="1095970" cy="565695"/>
          </a:xfrm>
          <a:prstGeom prst="roundRect">
            <a:avLst>
              <a:gd fmla="val 6735" name="adj"/>
            </a:avLst>
          </a:prstGeom>
          <a:solidFill>
            <a:srgbClr val="EA58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7118002" y="3990975"/>
            <a:ext cx="38100" cy="9715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847725" y="6019800"/>
            <a:ext cx="114300" cy="114300"/>
          </a:xfrm>
          <a:prstGeom prst="roundRect">
            <a:avLst>
              <a:gd fmla="val 16666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3076575" y="6019800"/>
            <a:ext cx="114300" cy="114300"/>
          </a:xfrm>
          <a:prstGeom prst="roundRect">
            <a:avLst>
              <a:gd fmla="val 16666" name="adj"/>
            </a:avLst>
          </a:prstGeom>
          <a:solidFill>
            <a:srgbClr val="EA58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5" name="Google Shape;19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56127" y="157162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56127" y="2819400"/>
            <a:ext cx="1714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 INTERPRETATION</a:t>
            </a:r>
            <a:endParaRPr b="1" i="0" sz="1050" u="none" cap="none" strike="noStrike">
              <a:solidFill>
                <a:srgbClr val="0284C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98" name="Google Shape;198;p6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Hourly Demand Profiling: Commuters vs. Casual</a:t>
            </a:r>
            <a:endParaRPr b="1" i="0" sz="2400" u="none" cap="none" strike="noStrike">
              <a:solidFill>
                <a:srgbClr val="0F172A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99" name="Google Shape;199;p6"/>
          <p:cNvSpPr txBox="1"/>
          <p:nvPr/>
        </p:nvSpPr>
        <p:spPr>
          <a:xfrm>
            <a:off x="847725" y="1552575"/>
            <a:ext cx="761716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Hourly Rental Distribution Pattern</a:t>
            </a:r>
            <a:endParaRPr b="1" i="0" sz="1350" u="none" cap="none" strike="noStrike">
              <a:solidFill>
                <a:srgbClr val="0F172A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00" name="Google Shape;200;p6"/>
          <p:cNvSpPr txBox="1"/>
          <p:nvPr/>
        </p:nvSpPr>
        <p:spPr>
          <a:xfrm>
            <a:off x="847725" y="5143500"/>
            <a:ext cx="13430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00:00 (Off-Peak)</a:t>
            </a:r>
            <a:endParaRPr b="0" i="0" sz="975" u="none" cap="none" strike="noStrike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01" name="Google Shape;201;p6"/>
          <p:cNvSpPr txBox="1"/>
          <p:nvPr/>
        </p:nvSpPr>
        <p:spPr>
          <a:xfrm>
            <a:off x="2043707" y="5143500"/>
            <a:ext cx="1750218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08:00 (Commute Peak)</a:t>
            </a:r>
            <a:endParaRPr b="0" i="0" sz="975" u="none" cap="none" strike="noStrike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02" name="Google Shape;202;p6"/>
          <p:cNvSpPr txBox="1"/>
          <p:nvPr/>
        </p:nvSpPr>
        <p:spPr>
          <a:xfrm>
            <a:off x="3582590" y="5143500"/>
            <a:ext cx="16192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12:00 (Midday Casual)</a:t>
            </a:r>
            <a:endParaRPr b="0" i="0" sz="975" u="none" cap="none" strike="noStrike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03" name="Google Shape;203;p6"/>
          <p:cNvSpPr txBox="1"/>
          <p:nvPr/>
        </p:nvSpPr>
        <p:spPr>
          <a:xfrm>
            <a:off x="5016698" y="5143500"/>
            <a:ext cx="14001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17:00 (Return Peak)</a:t>
            </a:r>
            <a:endParaRPr b="0" i="0" sz="975" u="none" cap="none" strike="noStrike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04" name="Google Shape;204;p6"/>
          <p:cNvSpPr txBox="1"/>
          <p:nvPr/>
        </p:nvSpPr>
        <p:spPr>
          <a:xfrm>
            <a:off x="6269831" y="5143500"/>
            <a:ext cx="6667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23:00</a:t>
            </a:r>
            <a:endParaRPr b="0" i="0" sz="975" u="none" cap="none" strike="noStrike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05" name="Google Shape;205;p6"/>
          <p:cNvSpPr txBox="1"/>
          <p:nvPr/>
        </p:nvSpPr>
        <p:spPr>
          <a:xfrm>
            <a:off x="7356127" y="1552575"/>
            <a:ext cx="483587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4C7"/>
                </a:solidFill>
                <a:latin typeface="Space Grotesk"/>
                <a:ea typeface="Space Grotesk"/>
                <a:cs typeface="Space Grotesk"/>
                <a:sym typeface="Space Grotesk"/>
              </a:rPr>
              <a:t>Registered Commuter Dynamics</a:t>
            </a:r>
            <a:endParaRPr b="1" i="0" sz="1200" u="none" cap="none" strike="noStrike">
              <a:solidFill>
                <a:srgbClr val="0284C7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06" name="Google Shape;206;p6"/>
          <p:cNvSpPr txBox="1"/>
          <p:nvPr/>
        </p:nvSpPr>
        <p:spPr>
          <a:xfrm>
            <a:off x="7356127" y="1809750"/>
            <a:ext cx="408339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Sharp bimodal peaks at </a:t>
            </a:r>
            <a:r>
              <a:rPr b="1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08:00 AM</a:t>
            </a: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and </a:t>
            </a:r>
            <a:r>
              <a:rPr b="1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05:00 PM</a:t>
            </a: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 82% of weekday volume is concentrated in work transit corridors.</a:t>
            </a:r>
            <a:endParaRPr b="0" i="0" sz="1125" u="none" cap="none" strike="noStrike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07" name="Google Shape;207;p6"/>
          <p:cNvSpPr txBox="1"/>
          <p:nvPr/>
        </p:nvSpPr>
        <p:spPr>
          <a:xfrm>
            <a:off x="7356127" y="2800350"/>
            <a:ext cx="483587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A580C"/>
                </a:solidFill>
                <a:latin typeface="Space Grotesk"/>
                <a:ea typeface="Space Grotesk"/>
                <a:cs typeface="Space Grotesk"/>
                <a:sym typeface="Space Grotesk"/>
              </a:rPr>
              <a:t>Casual Leisure Dynamics</a:t>
            </a:r>
            <a:endParaRPr b="1" i="0" sz="1200" u="none" cap="none" strike="noStrike">
              <a:solidFill>
                <a:srgbClr val="EA580C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08" name="Google Shape;208;p6"/>
          <p:cNvSpPr txBox="1"/>
          <p:nvPr/>
        </p:nvSpPr>
        <p:spPr>
          <a:xfrm>
            <a:off x="7356127" y="3057525"/>
            <a:ext cx="4083397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Unimodal bell curve peaking between </a:t>
            </a:r>
            <a:r>
              <a:rPr b="1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12:00 PM – 04:00 PM</a:t>
            </a: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on weekends and holidays. High sensitivity to midday temperature.</a:t>
            </a:r>
            <a:endParaRPr b="0" i="0" sz="1125" u="none" cap="none" strike="noStrike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09" name="Google Shape;209;p6"/>
          <p:cNvSpPr txBox="1"/>
          <p:nvPr/>
        </p:nvSpPr>
        <p:spPr>
          <a:xfrm>
            <a:off x="7384702" y="4219575"/>
            <a:ext cx="406434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Operational Key:</a:t>
            </a:r>
            <a:r>
              <a:rPr b="0" i="0" lang="en-US" sz="10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Station rebalancing trucks must deploy between </a:t>
            </a:r>
            <a:r>
              <a:rPr b="1" i="0" lang="en-US" sz="10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06:30 AM – 07:30 AM</a:t>
            </a:r>
            <a:r>
              <a:rPr b="0" i="0" lang="en-US" sz="10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to prevent empty dock lockouts during commuter surges.</a:t>
            </a:r>
            <a:endParaRPr b="0" i="0" sz="1050" u="none" cap="none" strike="noStrike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10" name="Google Shape;210;p6"/>
          <p:cNvSpPr txBox="1"/>
          <p:nvPr/>
        </p:nvSpPr>
        <p:spPr>
          <a:xfrm>
            <a:off x="1038225" y="5991225"/>
            <a:ext cx="230981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Registered Commuter Curve</a:t>
            </a:r>
            <a:endParaRPr b="1" i="0" sz="1050" u="none" cap="none" strike="noStrike">
              <a:solidFill>
                <a:srgbClr val="1E293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11" name="Google Shape;211;p6"/>
          <p:cNvSpPr txBox="1"/>
          <p:nvPr/>
        </p:nvSpPr>
        <p:spPr>
          <a:xfrm>
            <a:off x="3267075" y="5991225"/>
            <a:ext cx="165496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Casual Leisure Curve</a:t>
            </a:r>
            <a:endParaRPr b="1" i="0" sz="1050" u="none" cap="none" strike="noStrike">
              <a:solidFill>
                <a:srgbClr val="1E293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7"/>
          <p:cNvSpPr/>
          <p:nvPr/>
        </p:nvSpPr>
        <p:spPr>
          <a:xfrm>
            <a:off x="609600" y="5581650"/>
            <a:ext cx="10972800" cy="819150"/>
          </a:xfrm>
          <a:prstGeom prst="roundRect">
            <a:avLst>
              <a:gd fmla="val 13953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609600" y="1314450"/>
            <a:ext cx="2571750" cy="4076700"/>
          </a:xfrm>
          <a:prstGeom prst="roundRect">
            <a:avLst>
              <a:gd fmla="val 444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3409950" y="1314450"/>
            <a:ext cx="2571750" cy="4076700"/>
          </a:xfrm>
          <a:prstGeom prst="roundRect">
            <a:avLst>
              <a:gd fmla="val 444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6210300" y="1314450"/>
            <a:ext cx="2571750" cy="4076700"/>
          </a:xfrm>
          <a:prstGeom prst="roundRect">
            <a:avLst>
              <a:gd fmla="val 444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9010650" y="1314450"/>
            <a:ext cx="2571750" cy="4076700"/>
          </a:xfrm>
          <a:prstGeom prst="roundRect">
            <a:avLst>
              <a:gd fmla="val 444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609600" y="5581650"/>
            <a:ext cx="38100" cy="8191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2" name="Google Shape;22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43075" y="1514475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05325" y="1514475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43775" y="1514475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163175" y="1514475"/>
            <a:ext cx="2667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ENVIRONMENTAL DYNAMICS</a:t>
            </a:r>
            <a:endParaRPr b="1" i="0" sz="1050" u="none" cap="none" strike="noStrike">
              <a:solidFill>
                <a:srgbClr val="0284C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27" name="Google Shape;227;p7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Weather Elasticity &amp; User Composition Breakdown</a:t>
            </a:r>
            <a:endParaRPr b="1" i="0" sz="2400" u="none" cap="none" strike="noStrike">
              <a:solidFill>
                <a:srgbClr val="0F172A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28" name="Google Shape;228;p7"/>
          <p:cNvSpPr txBox="1"/>
          <p:nvPr/>
        </p:nvSpPr>
        <p:spPr>
          <a:xfrm>
            <a:off x="876300" y="5810250"/>
            <a:ext cx="105727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Key Operational Takeaway: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Registered commuters display high weather resilience during light precipitation (-10% drop), whereas casual leisure volume collapses by over 80% under light rain.</a:t>
            </a:r>
            <a:endParaRPr b="0" i="0" sz="1125" u="none" cap="none" strike="noStrike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29" name="Google Shape;229;p7"/>
          <p:cNvSpPr txBox="1"/>
          <p:nvPr/>
        </p:nvSpPr>
        <p:spPr>
          <a:xfrm>
            <a:off x="470296" y="1895475"/>
            <a:ext cx="285035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Clear / Few Clouds</a:t>
            </a:r>
            <a:endParaRPr b="1" i="0" sz="1200" u="none" cap="none" strike="noStrike">
              <a:solidFill>
                <a:srgbClr val="0F172A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30" name="Google Shape;230;p7"/>
          <p:cNvSpPr txBox="1"/>
          <p:nvPr/>
        </p:nvSpPr>
        <p:spPr>
          <a:xfrm>
            <a:off x="538162" y="2171700"/>
            <a:ext cx="27146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66.3 </a:t>
            </a:r>
            <a:r>
              <a:rPr b="1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avg/hr</a:t>
            </a:r>
            <a:endParaRPr b="1" i="0" sz="1050" u="none" cap="none" strike="noStrike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31" name="Google Shape;231;p7"/>
          <p:cNvSpPr txBox="1"/>
          <p:nvPr/>
        </p:nvSpPr>
        <p:spPr>
          <a:xfrm>
            <a:off x="538162" y="2628900"/>
            <a:ext cx="27146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6A3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100% Demand Baseline</a:t>
            </a:r>
            <a:endParaRPr b="1" i="0" sz="1050" u="none" cap="none" strike="noStrike">
              <a:solidFill>
                <a:srgbClr val="16A34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32" name="Google Shape;232;p7"/>
          <p:cNvSpPr txBox="1"/>
          <p:nvPr/>
        </p:nvSpPr>
        <p:spPr>
          <a:xfrm>
            <a:off x="3270646" y="1895475"/>
            <a:ext cx="285035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Mist / Cloudy</a:t>
            </a:r>
            <a:endParaRPr b="1" i="0" sz="1200" u="none" cap="none" strike="noStrike">
              <a:solidFill>
                <a:srgbClr val="0F172A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33" name="Google Shape;233;p7"/>
          <p:cNvSpPr txBox="1"/>
          <p:nvPr/>
        </p:nvSpPr>
        <p:spPr>
          <a:xfrm>
            <a:off x="3338512" y="2171700"/>
            <a:ext cx="27146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61.3 </a:t>
            </a:r>
            <a:r>
              <a:rPr b="1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avg/hr</a:t>
            </a:r>
            <a:endParaRPr b="1" i="0" sz="1050" u="none" cap="none" strike="noStrike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34" name="Google Shape;234;p7"/>
          <p:cNvSpPr txBox="1"/>
          <p:nvPr/>
        </p:nvSpPr>
        <p:spPr>
          <a:xfrm>
            <a:off x="3338512" y="2628900"/>
            <a:ext cx="27146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D9770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-7.5% Volume Reduction</a:t>
            </a:r>
            <a:endParaRPr b="1" i="0" sz="1050" u="none" cap="none" strike="noStrike">
              <a:solidFill>
                <a:srgbClr val="D9770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35" name="Google Shape;235;p7"/>
          <p:cNvSpPr txBox="1"/>
          <p:nvPr/>
        </p:nvSpPr>
        <p:spPr>
          <a:xfrm>
            <a:off x="6070996" y="1895475"/>
            <a:ext cx="285035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Light Rain / Snow</a:t>
            </a:r>
            <a:endParaRPr b="1" i="0" sz="1200" u="none" cap="none" strike="noStrike">
              <a:solidFill>
                <a:srgbClr val="0F172A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36" name="Google Shape;236;p7"/>
          <p:cNvSpPr txBox="1"/>
          <p:nvPr/>
        </p:nvSpPr>
        <p:spPr>
          <a:xfrm>
            <a:off x="6138862" y="2171700"/>
            <a:ext cx="27146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34.8 </a:t>
            </a:r>
            <a:r>
              <a:rPr b="1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avg/hr</a:t>
            </a:r>
            <a:endParaRPr b="1" i="0" sz="1050" u="none" cap="none" strike="noStrike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37" name="Google Shape;237;p7"/>
          <p:cNvSpPr txBox="1"/>
          <p:nvPr/>
        </p:nvSpPr>
        <p:spPr>
          <a:xfrm>
            <a:off x="6138862" y="2628900"/>
            <a:ext cx="27146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DC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-47.5% Heavy Collapse</a:t>
            </a:r>
            <a:endParaRPr b="1" i="0" sz="1050" u="none" cap="none" strike="noStrike">
              <a:solidFill>
                <a:srgbClr val="DC262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38" name="Google Shape;238;p7"/>
          <p:cNvSpPr txBox="1"/>
          <p:nvPr/>
        </p:nvSpPr>
        <p:spPr>
          <a:xfrm>
            <a:off x="8871346" y="1895475"/>
            <a:ext cx="285035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Heavy Rain / Fog</a:t>
            </a:r>
            <a:endParaRPr b="1" i="0" sz="1200" u="none" cap="none" strike="noStrike">
              <a:solidFill>
                <a:srgbClr val="0F172A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39" name="Google Shape;239;p7"/>
          <p:cNvSpPr txBox="1"/>
          <p:nvPr/>
        </p:nvSpPr>
        <p:spPr>
          <a:xfrm>
            <a:off x="8939212" y="2171700"/>
            <a:ext cx="27146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36.0 </a:t>
            </a:r>
            <a:r>
              <a:rPr b="1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avg/hr</a:t>
            </a:r>
            <a:endParaRPr b="1" i="0" sz="1050" u="none" cap="none" strike="noStrike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40" name="Google Shape;240;p7"/>
          <p:cNvSpPr txBox="1"/>
          <p:nvPr/>
        </p:nvSpPr>
        <p:spPr>
          <a:xfrm>
            <a:off x="8939212" y="2628900"/>
            <a:ext cx="27146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DC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Operational Freeze Zone</a:t>
            </a:r>
            <a:endParaRPr b="1" i="0" sz="1050" u="none" cap="none" strike="noStrike">
              <a:solidFill>
                <a:srgbClr val="DC262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8"/>
          <p:cNvSpPr/>
          <p:nvPr/>
        </p:nvSpPr>
        <p:spPr>
          <a:xfrm>
            <a:off x="609600" y="1314450"/>
            <a:ext cx="10972800" cy="5086350"/>
          </a:xfrm>
          <a:prstGeom prst="roundRect">
            <a:avLst>
              <a:gd fmla="val 224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6" name="Google Shape;246;p8"/>
          <p:cNvGraphicFramePr/>
          <p:nvPr/>
        </p:nvGraphicFramePr>
        <p:xfrm>
          <a:off x="847725" y="27670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{4EC3FE4B-8A84-4C5B-8AF8-3F78AD5F31E0}</a:tableStyleId>
              </a:tblPr>
              <a:tblGrid>
                <a:gridCol w="2094750"/>
                <a:gridCol w="2151600"/>
                <a:gridCol w="2390625"/>
                <a:gridCol w="2014975"/>
                <a:gridCol w="1844575"/>
              </a:tblGrid>
              <a:tr h="449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Weather Condition</a:t>
                      </a:r>
                      <a:endParaRPr b="1" i="0" sz="1125" u="none" cap="none" strike="noStrike">
                        <a:solidFill>
                          <a:srgbClr val="475569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Morning Peak (07-09)</a:t>
                      </a:r>
                      <a:endParaRPr b="1" i="0" sz="1125" u="none" cap="none" strike="noStrike">
                        <a:solidFill>
                          <a:srgbClr val="475569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Midday Off-Peak (10-15)</a:t>
                      </a:r>
                      <a:endParaRPr b="1" i="0" sz="1125" u="none" cap="none" strike="noStrike">
                        <a:solidFill>
                          <a:srgbClr val="475569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Evening Peak (16-19)</a:t>
                      </a:r>
                      <a:endParaRPr b="1" i="0" sz="1125" u="none" cap="none" strike="noStrike">
                        <a:solidFill>
                          <a:srgbClr val="475569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Night Slot (20-06)</a:t>
                      </a:r>
                      <a:endParaRPr b="1" i="0" sz="1125" u="none" cap="none" strike="noStrike">
                        <a:solidFill>
                          <a:srgbClr val="475569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49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1. Clear / Few Clouds</a:t>
                      </a:r>
                      <a:endParaRPr b="1" i="0" sz="1125" u="none" cap="none" strike="noStrike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166534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225 (High)</a:t>
                      </a:r>
                      <a:endParaRPr b="1" i="0" sz="1125" u="none" cap="none" strike="noStrike">
                        <a:solidFill>
                          <a:srgbClr val="166534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854D0E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142 (Mod)</a:t>
                      </a:r>
                      <a:endParaRPr b="1" i="0" sz="1125" u="none" cap="none" strike="noStrike">
                        <a:solidFill>
                          <a:srgbClr val="854D0E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166534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248 (Peak)</a:t>
                      </a:r>
                      <a:endParaRPr b="1" i="0" sz="1125" u="none" cap="none" strike="noStrike">
                        <a:solidFill>
                          <a:srgbClr val="166534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38 (Low)</a:t>
                      </a:r>
                      <a:endParaRPr b="0" i="0" sz="1125" u="none" cap="none" strike="noStrike">
                        <a:solidFill>
                          <a:srgbClr val="475569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449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2. Mist / Overcast</a:t>
                      </a:r>
                      <a:endParaRPr b="1" i="0" sz="1125" u="none" cap="none" strike="noStrike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166534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198 (High)</a:t>
                      </a:r>
                      <a:endParaRPr b="1" i="0" sz="1125" u="none" cap="none" strike="noStrike">
                        <a:solidFill>
                          <a:srgbClr val="166534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854D0E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118 (Mod)</a:t>
                      </a:r>
                      <a:endParaRPr b="1" i="0" sz="1125" u="none" cap="none" strike="noStrike">
                        <a:solidFill>
                          <a:srgbClr val="854D0E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166534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215 (High)</a:t>
                      </a:r>
                      <a:endParaRPr b="1" i="0" sz="1125" u="none" cap="none" strike="noStrike">
                        <a:solidFill>
                          <a:srgbClr val="166534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31 (Low)</a:t>
                      </a:r>
                      <a:endParaRPr b="0" i="0" sz="1125" u="none" cap="none" strike="noStrike">
                        <a:solidFill>
                          <a:srgbClr val="475569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449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3. Light Rain / Snow</a:t>
                      </a:r>
                      <a:endParaRPr b="1" i="0" sz="1125" u="none" cap="none" strike="noStrike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991B1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85 (Severe Drop)</a:t>
                      </a:r>
                      <a:endParaRPr b="1" i="0" sz="1125" u="none" cap="none" strike="noStrike">
                        <a:solidFill>
                          <a:srgbClr val="991B1B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991B1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42 (Severe Drop)</a:t>
                      </a:r>
                      <a:endParaRPr b="1" i="0" sz="1125" u="none" cap="none" strike="noStrike">
                        <a:solidFill>
                          <a:srgbClr val="991B1B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991B1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92 (Severe Drop)</a:t>
                      </a:r>
                      <a:endParaRPr b="1" i="0" sz="1125" u="none" cap="none" strike="noStrike">
                        <a:solidFill>
                          <a:srgbClr val="991B1B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991B1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12 (Critical)</a:t>
                      </a:r>
                      <a:endParaRPr b="0" i="0" sz="1125" u="none" cap="none" strike="noStrike">
                        <a:solidFill>
                          <a:srgbClr val="991B1B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E2E2"/>
                    </a:solidFill>
                  </a:tcPr>
                </a:tc>
              </a:tr>
              <a:tr h="449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4. Heavy Rain / Fog</a:t>
                      </a:r>
                      <a:endParaRPr b="1" i="0" sz="1125" u="none" cap="none" strike="noStrike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7F1D1D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35 (Freeze)</a:t>
                      </a:r>
                      <a:endParaRPr b="1" i="0" sz="1125" u="none" cap="none" strike="noStrike">
                        <a:solidFill>
                          <a:srgbClr val="7F1D1D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A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7F1D1D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18 (Freeze)</a:t>
                      </a:r>
                      <a:endParaRPr b="1" i="0" sz="1125" u="none" cap="none" strike="noStrike">
                        <a:solidFill>
                          <a:srgbClr val="7F1D1D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A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7F1D1D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38 (Freeze)</a:t>
                      </a:r>
                      <a:endParaRPr b="1" i="0" sz="1125" u="none" cap="none" strike="noStrike">
                        <a:solidFill>
                          <a:srgbClr val="7F1D1D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A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7F1D1D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4 (Freeze)</a:t>
                      </a:r>
                      <a:endParaRPr b="1" i="0" sz="1125" u="none" cap="none" strike="noStrike">
                        <a:solidFill>
                          <a:srgbClr val="7F1D1D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A5A5"/>
                    </a:solidFill>
                  </a:tcPr>
                </a:tc>
              </a:tr>
            </a:tbl>
          </a:graphicData>
        </a:graphic>
      </p:graphicFrame>
      <p:sp>
        <p:nvSpPr>
          <p:cNvPr id="247" name="Google Shape;247;p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RISK ASSESSMENT</a:t>
            </a:r>
            <a:endParaRPr b="1" i="0" sz="1050" u="none" cap="none" strike="noStrike">
              <a:solidFill>
                <a:srgbClr val="0284C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48" name="Google Shape;248;p8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Operational Risk Heatmap: Weather vs. Time Slot</a:t>
            </a:r>
            <a:endParaRPr b="1" i="0" sz="2400" u="none" cap="none" strike="noStrike">
              <a:solidFill>
                <a:srgbClr val="0F172A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49" name="Google Shape;249;p8"/>
          <p:cNvSpPr txBox="1"/>
          <p:nvPr/>
        </p:nvSpPr>
        <p:spPr>
          <a:xfrm>
            <a:off x="847725" y="1552575"/>
            <a:ext cx="113442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Average Hourly Demand Load Grid</a:t>
            </a:r>
            <a:endParaRPr b="1" i="0" sz="1350" u="none" cap="none" strike="noStrike">
              <a:solidFill>
                <a:srgbClr val="0F172A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50" name="Google Shape;250;p8"/>
          <p:cNvSpPr txBox="1"/>
          <p:nvPr/>
        </p:nvSpPr>
        <p:spPr>
          <a:xfrm>
            <a:off x="847725" y="6010275"/>
            <a:ext cx="3534481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■ Green:</a:t>
            </a:r>
            <a:r>
              <a:rPr b="0" i="0" lang="en-US" sz="97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High Demand / Full Rebalance Required</a:t>
            </a:r>
            <a:endParaRPr b="0" i="0" sz="975" u="none" cap="none" strike="noStrike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51" name="Google Shape;251;p8"/>
          <p:cNvSpPr txBox="1"/>
          <p:nvPr/>
        </p:nvSpPr>
        <p:spPr>
          <a:xfrm>
            <a:off x="3827710" y="6010275"/>
            <a:ext cx="31892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854D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■ Yellow:</a:t>
            </a:r>
            <a:r>
              <a:rPr b="0" i="0" lang="en-US" sz="97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Medium Demand / Moderate Fleet</a:t>
            </a:r>
            <a:endParaRPr b="0" i="0" sz="975" u="none" cap="none" strike="noStrike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52" name="Google Shape;252;p8"/>
          <p:cNvSpPr txBox="1"/>
          <p:nvPr/>
        </p:nvSpPr>
        <p:spPr>
          <a:xfrm>
            <a:off x="6531471" y="6010275"/>
            <a:ext cx="2581981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99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■ Red:</a:t>
            </a:r>
            <a:r>
              <a:rPr b="0" i="0" lang="en-US" sz="97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Severe Demand Contraction</a:t>
            </a:r>
            <a:endParaRPr b="0" i="0" sz="975" u="none" cap="none" strike="noStrike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9"/>
          <p:cNvSpPr/>
          <p:nvPr/>
        </p:nvSpPr>
        <p:spPr>
          <a:xfrm>
            <a:off x="609600" y="1314450"/>
            <a:ext cx="3505200" cy="5086350"/>
          </a:xfrm>
          <a:prstGeom prst="roundRect">
            <a:avLst>
              <a:gd fmla="val 326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4343400" y="1314450"/>
            <a:ext cx="3505200" cy="5086350"/>
          </a:xfrm>
          <a:prstGeom prst="roundRect">
            <a:avLst>
              <a:gd fmla="val 326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8077200" y="1314450"/>
            <a:ext cx="3505200" cy="5086350"/>
          </a:xfrm>
          <a:prstGeom prst="roundRect">
            <a:avLst>
              <a:gd fmla="val 326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60" name="Google Shape;26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725" y="1552575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81525" y="155257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15325" y="1552575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AUTOMATION ARCHITECTURE</a:t>
            </a:r>
            <a:endParaRPr b="1" i="0" sz="1050" u="none" cap="none" strike="noStrike">
              <a:solidFill>
                <a:srgbClr val="0284C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64" name="Google Shape;264;p9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Dashboard System Architecture &amp; VBA Macro Suite</a:t>
            </a:r>
            <a:endParaRPr b="1" i="0" sz="2400" u="none" cap="none" strike="noStrike">
              <a:solidFill>
                <a:srgbClr val="0F172A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65" name="Google Shape;265;p9"/>
          <p:cNvSpPr txBox="1"/>
          <p:nvPr/>
        </p:nvSpPr>
        <p:spPr>
          <a:xfrm>
            <a:off x="1143000" y="1557337"/>
            <a:ext cx="270033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Layer 1: Power Query ETL</a:t>
            </a:r>
            <a:endParaRPr b="1" i="0" sz="1350" u="none" cap="none" strike="noStrike">
              <a:solidFill>
                <a:srgbClr val="0F172A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66" name="Google Shape;266;p9"/>
          <p:cNvSpPr txBox="1"/>
          <p:nvPr/>
        </p:nvSpPr>
        <p:spPr>
          <a:xfrm>
            <a:off x="847725" y="1933575"/>
            <a:ext cx="31242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Automated Refresh: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One-click ingestion of new weekly CSV rental feeds.</a:t>
            </a:r>
            <a:endParaRPr b="0" i="0" sz="1350" u="none" cap="none" strike="noStrike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67" name="Google Shape;267;p9"/>
          <p:cNvSpPr txBox="1"/>
          <p:nvPr/>
        </p:nvSpPr>
        <p:spPr>
          <a:xfrm>
            <a:off x="847725" y="2819400"/>
            <a:ext cx="31242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Schema Binding: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Preserves exact composite key joins without formulas breaking.</a:t>
            </a:r>
            <a:endParaRPr b="0" i="0" sz="1350" u="none" cap="none" strike="noStrike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68" name="Google Shape;268;p9"/>
          <p:cNvSpPr txBox="1"/>
          <p:nvPr/>
        </p:nvSpPr>
        <p:spPr>
          <a:xfrm>
            <a:off x="847725" y="3705225"/>
            <a:ext cx="31242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Type Enforcer: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Auto-casts text fields into correct date formats.</a:t>
            </a:r>
            <a:endParaRPr b="0" i="0" sz="1350" u="none" cap="none" strike="noStrike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69" name="Google Shape;269;p9"/>
          <p:cNvSpPr txBox="1"/>
          <p:nvPr/>
        </p:nvSpPr>
        <p:spPr>
          <a:xfrm>
            <a:off x="4905375" y="1557337"/>
            <a:ext cx="3275409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Layer 2: Dynamic Pivot Engine</a:t>
            </a:r>
            <a:endParaRPr b="1" i="0" sz="1350" u="none" cap="none" strike="noStrike">
              <a:solidFill>
                <a:srgbClr val="0F172A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70" name="Google Shape;270;p9"/>
          <p:cNvSpPr txBox="1"/>
          <p:nvPr/>
        </p:nvSpPr>
        <p:spPr>
          <a:xfrm>
            <a:off x="4581525" y="1933575"/>
            <a:ext cx="31242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Multi-Slicer Control: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Synchronized filtering across Weather, Day Type, and Hour.</a:t>
            </a:r>
            <a:endParaRPr b="0" i="0" sz="1350" u="none" cap="none" strike="noStrike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71" name="Google Shape;271;p9"/>
          <p:cNvSpPr txBox="1"/>
          <p:nvPr/>
        </p:nvSpPr>
        <p:spPr>
          <a:xfrm>
            <a:off x="4581525" y="2819400"/>
            <a:ext cx="31242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Calculated Measures: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Custom fields calculating casual-to-registered ratios.</a:t>
            </a:r>
            <a:endParaRPr b="0" i="0" sz="1350" u="none" cap="none" strike="noStrike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72" name="Google Shape;272;p9"/>
          <p:cNvSpPr txBox="1"/>
          <p:nvPr/>
        </p:nvSpPr>
        <p:spPr>
          <a:xfrm>
            <a:off x="4581525" y="3705225"/>
            <a:ext cx="31242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Visual Layer: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Connected pivot charts updated in real-time.</a:t>
            </a:r>
            <a:endParaRPr b="0" i="0" sz="1350" u="none" cap="none" strike="noStrike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73" name="Google Shape;273;p9"/>
          <p:cNvSpPr txBox="1"/>
          <p:nvPr/>
        </p:nvSpPr>
        <p:spPr>
          <a:xfrm>
            <a:off x="8696325" y="1557337"/>
            <a:ext cx="267533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Layer 3: VBA &amp; AI Macros</a:t>
            </a:r>
            <a:endParaRPr b="1" i="0" sz="1350" u="none" cap="none" strike="noStrike">
              <a:solidFill>
                <a:srgbClr val="0F172A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74" name="Google Shape;274;p9"/>
          <p:cNvSpPr txBox="1"/>
          <p:nvPr/>
        </p:nvSpPr>
        <p:spPr>
          <a:xfrm>
            <a:off x="8315325" y="1933575"/>
            <a:ext cx="31242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 Reporting: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Macro exports PDF summary decks directly to management.</a:t>
            </a:r>
            <a:endParaRPr b="0" i="0" sz="1350" u="none" cap="none" strike="noStrike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75" name="Google Shape;275;p9"/>
          <p:cNvSpPr txBox="1"/>
          <p:nvPr/>
        </p:nvSpPr>
        <p:spPr>
          <a:xfrm>
            <a:off x="8315325" y="2819400"/>
            <a:ext cx="31242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Anomaly Alerting: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Triggers highlight flags when rental drops exceed 2.5 std dev.</a:t>
            </a:r>
            <a:endParaRPr b="0" i="0" sz="1350" u="none" cap="none" strike="noStrike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76" name="Google Shape;276;p9"/>
          <p:cNvSpPr txBox="1"/>
          <p:nvPr/>
        </p:nvSpPr>
        <p:spPr>
          <a:xfrm>
            <a:off x="8315325" y="3705225"/>
            <a:ext cx="31242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Forecast Sheet: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Automated AI exponential smoothing trend generator.</a:t>
            </a:r>
            <a:endParaRPr b="0" i="0" sz="1350" u="none" cap="none" strike="noStrike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0"/>
          <p:cNvSpPr/>
          <p:nvPr/>
        </p:nvSpPr>
        <p:spPr>
          <a:xfrm>
            <a:off x="609600" y="1314450"/>
            <a:ext cx="5391150" cy="1276350"/>
          </a:xfrm>
          <a:prstGeom prst="roundRect">
            <a:avLst>
              <a:gd fmla="val 8955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0"/>
          <p:cNvSpPr/>
          <p:nvPr/>
        </p:nvSpPr>
        <p:spPr>
          <a:xfrm>
            <a:off x="6191250" y="1314450"/>
            <a:ext cx="5391150" cy="1276350"/>
          </a:xfrm>
          <a:prstGeom prst="roundRect">
            <a:avLst>
              <a:gd fmla="val 8955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0"/>
          <p:cNvSpPr/>
          <p:nvPr/>
        </p:nvSpPr>
        <p:spPr>
          <a:xfrm>
            <a:off x="609600" y="2743200"/>
            <a:ext cx="5391150" cy="1276350"/>
          </a:xfrm>
          <a:prstGeom prst="roundRect">
            <a:avLst>
              <a:gd fmla="val 8955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6191250" y="2743200"/>
            <a:ext cx="5391150" cy="1276350"/>
          </a:xfrm>
          <a:prstGeom prst="roundRect">
            <a:avLst>
              <a:gd fmla="val 8955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85" name="Google Shape;28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725" y="1552575"/>
            <a:ext cx="4667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6" name="Google Shape;28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29375" y="1552575"/>
            <a:ext cx="4667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7" name="Google Shape;287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7725" y="2981325"/>
            <a:ext cx="41910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8" name="Google Shape;288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29375" y="2981325"/>
            <a:ext cx="4667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9" name="Google Shape;289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2025" y="1666875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0" name="Google Shape;290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43675" y="1666875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1" name="Google Shape;291;p1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2025" y="3095625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2" name="Google Shape;292;p1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43675" y="3095625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1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BUSINESS STRATEGY</a:t>
            </a:r>
            <a:endParaRPr b="1" i="0" sz="1050" u="none" cap="none" strike="noStrike">
              <a:solidFill>
                <a:srgbClr val="0284C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94" name="Google Shape;294;p10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Strategic Action Plan &amp; Operational Roadmap</a:t>
            </a:r>
            <a:endParaRPr b="1" i="0" sz="2400" u="none" cap="none" strike="noStrike">
              <a:solidFill>
                <a:srgbClr val="0F172A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95" name="Google Shape;295;p10"/>
          <p:cNvSpPr txBox="1"/>
          <p:nvPr/>
        </p:nvSpPr>
        <p:spPr>
          <a:xfrm>
            <a:off x="1466850" y="1552575"/>
            <a:ext cx="563820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1. Commuter Corridor Rebalancing</a:t>
            </a:r>
            <a:endParaRPr b="1" i="0" sz="1350" u="none" cap="none" strike="noStrike">
              <a:solidFill>
                <a:srgbClr val="0F172A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96" name="Google Shape;296;p10"/>
          <p:cNvSpPr txBox="1"/>
          <p:nvPr/>
        </p:nvSpPr>
        <p:spPr>
          <a:xfrm>
            <a:off x="1466850" y="1809750"/>
            <a:ext cx="43910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Pre-stage 70% of available fleet at suburban metro stations by 07:00 AM on weekdays. Shift bikes back to commercial districts by 04:00 PM.</a:t>
            </a:r>
            <a:endParaRPr b="0" i="0" sz="1125" u="none" cap="none" strike="noStrike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97" name="Google Shape;297;p10"/>
          <p:cNvSpPr txBox="1"/>
          <p:nvPr/>
        </p:nvSpPr>
        <p:spPr>
          <a:xfrm>
            <a:off x="7048500" y="1552575"/>
            <a:ext cx="51435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2. Dynamic Weather Surge Pricing</a:t>
            </a:r>
            <a:endParaRPr b="1" i="0" sz="1350" u="none" cap="none" strike="noStrike">
              <a:solidFill>
                <a:srgbClr val="0F172A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98" name="Google Shape;298;p10"/>
          <p:cNvSpPr txBox="1"/>
          <p:nvPr/>
        </p:nvSpPr>
        <p:spPr>
          <a:xfrm>
            <a:off x="7048500" y="1809750"/>
            <a:ext cx="43910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Implement a 15% discount for casual riders during overcast weather to cushion leisure volume drops, paired with push notifications.</a:t>
            </a:r>
            <a:endParaRPr b="0" i="0" sz="1125" u="none" cap="none" strike="noStrike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99" name="Google Shape;299;p10"/>
          <p:cNvSpPr txBox="1"/>
          <p:nvPr/>
        </p:nvSpPr>
        <p:spPr>
          <a:xfrm>
            <a:off x="1419225" y="2981325"/>
            <a:ext cx="570071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3. Off-Peak Maintenance Scheduling</a:t>
            </a:r>
            <a:endParaRPr b="1" i="0" sz="1350" u="none" cap="none" strike="noStrike">
              <a:solidFill>
                <a:srgbClr val="0F172A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00" name="Google Shape;300;p10"/>
          <p:cNvSpPr txBox="1"/>
          <p:nvPr/>
        </p:nvSpPr>
        <p:spPr>
          <a:xfrm>
            <a:off x="1419225" y="3238500"/>
            <a:ext cx="44386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Restrict routine station servicing and bike overhauls exclusively to the 01:00 AM – 04:00 AM window, avoiding peak revenue hours.</a:t>
            </a:r>
            <a:endParaRPr b="0" i="0" sz="1125" u="none" cap="none" strike="noStrike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01" name="Google Shape;301;p10"/>
          <p:cNvSpPr txBox="1"/>
          <p:nvPr/>
        </p:nvSpPr>
        <p:spPr>
          <a:xfrm>
            <a:off x="7048500" y="2981325"/>
            <a:ext cx="51435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4. B2B Corporate Commuter Passes</a:t>
            </a:r>
            <a:endParaRPr b="1" i="0" sz="1350" u="none" cap="none" strike="noStrike">
              <a:solidFill>
                <a:srgbClr val="0F172A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02" name="Google Shape;302;p10"/>
          <p:cNvSpPr txBox="1"/>
          <p:nvPr/>
        </p:nvSpPr>
        <p:spPr>
          <a:xfrm>
            <a:off x="7048500" y="3238500"/>
            <a:ext cx="43910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Partner with downtown corporate employers to subsidize annual registered memberships, securing guaranteed baseline revenue.</a:t>
            </a:r>
            <a:endParaRPr b="0" i="0" sz="1125" u="none" cap="none" strike="noStrike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1"/>
          <p:cNvSpPr/>
          <p:nvPr/>
        </p:nvSpPr>
        <p:spPr>
          <a:xfrm>
            <a:off x="609600" y="1314450"/>
            <a:ext cx="10972800" cy="5086350"/>
          </a:xfrm>
          <a:prstGeom prst="roundRect">
            <a:avLst>
              <a:gd fmla="val 224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1"/>
          <p:cNvSpPr/>
          <p:nvPr/>
        </p:nvSpPr>
        <p:spPr>
          <a:xfrm>
            <a:off x="8139707" y="2095500"/>
            <a:ext cx="1057275" cy="247650"/>
          </a:xfrm>
          <a:prstGeom prst="roundRect">
            <a:avLst>
              <a:gd fmla="val 23076" name="adj"/>
            </a:avLst>
          </a:prstGeom>
          <a:solidFill>
            <a:srgbClr val="DCFC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1"/>
          <p:cNvSpPr/>
          <p:nvPr/>
        </p:nvSpPr>
        <p:spPr>
          <a:xfrm>
            <a:off x="8139707" y="2581275"/>
            <a:ext cx="1057275" cy="247650"/>
          </a:xfrm>
          <a:prstGeom prst="roundRect">
            <a:avLst>
              <a:gd fmla="val 23076" name="adj"/>
            </a:avLst>
          </a:prstGeom>
          <a:solidFill>
            <a:srgbClr val="DCFC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1"/>
          <p:cNvSpPr/>
          <p:nvPr/>
        </p:nvSpPr>
        <p:spPr>
          <a:xfrm>
            <a:off x="8139707" y="3067050"/>
            <a:ext cx="1057275" cy="247650"/>
          </a:xfrm>
          <a:prstGeom prst="roundRect">
            <a:avLst>
              <a:gd fmla="val 23076" name="adj"/>
            </a:avLst>
          </a:prstGeom>
          <a:solidFill>
            <a:srgbClr val="DCFC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1"/>
          <p:cNvSpPr/>
          <p:nvPr/>
        </p:nvSpPr>
        <p:spPr>
          <a:xfrm>
            <a:off x="8139707" y="3552825"/>
            <a:ext cx="1057275" cy="247650"/>
          </a:xfrm>
          <a:prstGeom prst="roundRect">
            <a:avLst>
              <a:gd fmla="val 23076" name="adj"/>
            </a:avLst>
          </a:prstGeom>
          <a:solidFill>
            <a:srgbClr val="DCFC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1"/>
          <p:cNvSpPr/>
          <p:nvPr/>
        </p:nvSpPr>
        <p:spPr>
          <a:xfrm>
            <a:off x="8139707" y="4038600"/>
            <a:ext cx="1057275" cy="247650"/>
          </a:xfrm>
          <a:prstGeom prst="roundRect">
            <a:avLst>
              <a:gd fmla="val 23076" name="adj"/>
            </a:avLst>
          </a:prstGeom>
          <a:solidFill>
            <a:srgbClr val="DCFC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13" name="Google Shape;31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70987" y="2157412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4" name="Google Shape;31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70987" y="2643187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5" name="Google Shape;31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70987" y="4100512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6" name="Google Shape;31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70987" y="3128962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7" name="Google Shape;31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70987" y="3614737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8" name="Google Shape;31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70987" y="2157412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9" name="Google Shape;31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70987" y="2643187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0" name="Google Shape;32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70987" y="3128962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1" name="Google Shape;32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70987" y="3614737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2" name="Google Shape;32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70987" y="4100512"/>
            <a:ext cx="142875" cy="1428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23" name="Google Shape;323;p11"/>
          <p:cNvGraphicFramePr/>
          <p:nvPr/>
        </p:nvGraphicFramePr>
        <p:xfrm>
          <a:off x="847725" y="1552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{4EC3FE4B-8A84-4C5B-8AF8-3F78AD5F31E0}</a:tableStyleId>
              </a:tblPr>
              <a:tblGrid>
                <a:gridCol w="2290025"/>
                <a:gridCol w="4887675"/>
                <a:gridCol w="1431275"/>
                <a:gridCol w="1887575"/>
              </a:tblGrid>
              <a:tr h="474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Requirement Module</a:t>
                      </a:r>
                      <a:endParaRPr b="1" i="0" sz="1125" u="none" cap="none" strike="noStrike">
                        <a:solidFill>
                          <a:srgbClr val="475569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Scope Deliverable</a:t>
                      </a:r>
                      <a:endParaRPr b="1" i="0" sz="1125" u="none" cap="none" strike="noStrike">
                        <a:solidFill>
                          <a:srgbClr val="475569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Status</a:t>
                      </a:r>
                      <a:endParaRPr b="1" i="0" sz="1125" u="none" cap="none" strike="noStrike">
                        <a:solidFill>
                          <a:srgbClr val="475569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Verification Sign-Off</a:t>
                      </a:r>
                      <a:endParaRPr b="1" i="0" sz="1125" u="none" cap="none" strike="noStrike">
                        <a:solidFill>
                          <a:srgbClr val="475569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74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1. Data Loading &amp; Merging</a:t>
                      </a:r>
                      <a:endParaRPr b="1" i="0" sz="1125" u="none" cap="none" strike="noStrike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1E293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Power Query schema joining Dataset_1, 2, and 3</a:t>
                      </a:r>
                      <a:endParaRPr b="0" i="0" sz="1125" u="none" cap="none" strike="noStrike">
                        <a:solidFill>
                          <a:srgbClr val="1E293B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16A34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Verified</a:t>
                      </a:r>
                      <a:endParaRPr b="1" i="0" sz="1125" u="none" cap="none" strike="noStrike">
                        <a:solidFill>
                          <a:srgbClr val="16A34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257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74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2. Data Cleaning &amp; Logic</a:t>
                      </a:r>
                      <a:endParaRPr b="1" i="0" sz="1125" u="none" cap="none" strike="noStrike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1E293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Null handling, deduplication, IF &amp; INDEX/MATCH fields</a:t>
                      </a:r>
                      <a:endParaRPr b="0" i="0" sz="1125" u="none" cap="none" strike="noStrike">
                        <a:solidFill>
                          <a:srgbClr val="1E293B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16A34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Verified</a:t>
                      </a:r>
                      <a:endParaRPr b="1" i="0" sz="1125" u="none" cap="none" strike="noStrike">
                        <a:solidFill>
                          <a:srgbClr val="16A34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257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74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3. Advanced Analysis</a:t>
                      </a:r>
                      <a:endParaRPr b="1" i="0" sz="1125" u="none" cap="none" strike="noStrike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1E293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Pivot summary tables, STDEV, CORREL, statistical metrics</a:t>
                      </a:r>
                      <a:endParaRPr b="0" i="0" sz="1125" u="none" cap="none" strike="noStrike">
                        <a:solidFill>
                          <a:srgbClr val="1E293B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16A34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Verified</a:t>
                      </a:r>
                      <a:endParaRPr b="1" i="0" sz="1125" u="none" cap="none" strike="noStrike">
                        <a:solidFill>
                          <a:srgbClr val="16A34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257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74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4. BI Dashboard Suite</a:t>
                      </a:r>
                      <a:endParaRPr b="1" i="0" sz="1125" u="none" cap="none" strike="noStrike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1E293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Interactive Excel dashboard with dynamic slicers &amp; heatmaps</a:t>
                      </a:r>
                      <a:endParaRPr b="0" i="0" sz="1125" u="none" cap="none" strike="noStrike">
                        <a:solidFill>
                          <a:srgbClr val="1E293B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16A34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Verified</a:t>
                      </a:r>
                      <a:endParaRPr b="1" i="0" sz="1125" u="none" cap="none" strike="noStrike">
                        <a:solidFill>
                          <a:srgbClr val="16A34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257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74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5. VBA &amp; AI Automation</a:t>
                      </a:r>
                      <a:endParaRPr b="1" i="0" sz="1125" u="none" cap="none" strike="noStrike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1E293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Automated macro scripts, AI trend forecast, auto reporting</a:t>
                      </a:r>
                      <a:endParaRPr b="0" i="0" sz="1125" u="none" cap="none" strike="noStrike">
                        <a:solidFill>
                          <a:srgbClr val="1E293B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16A34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Verified</a:t>
                      </a:r>
                      <a:endParaRPr b="1" i="0" sz="1125" u="none" cap="none" strike="noStrike">
                        <a:solidFill>
                          <a:srgbClr val="16A34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257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324" name="Google Shape;324;p11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DELIVERABLES CHECKLIST</a:t>
            </a:r>
            <a:endParaRPr b="1" i="0" sz="1050" u="none" cap="none" strike="noStrike">
              <a:solidFill>
                <a:srgbClr val="0284C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25" name="Google Shape;325;p11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Project Requirements &amp; Sign-Off Verification</a:t>
            </a:r>
            <a:endParaRPr b="1" i="0" sz="2400" u="none" cap="none" strike="noStrike">
              <a:solidFill>
                <a:srgbClr val="0F172A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26" name="Google Shape;326;p11"/>
          <p:cNvSpPr txBox="1"/>
          <p:nvPr/>
        </p:nvSpPr>
        <p:spPr>
          <a:xfrm>
            <a:off x="8254007" y="2133600"/>
            <a:ext cx="9239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COMPLETED</a:t>
            </a:r>
            <a:endParaRPr b="1" i="0" sz="1050" u="none" cap="none" strike="noStrike">
              <a:solidFill>
                <a:srgbClr val="166534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27" name="Google Shape;327;p11"/>
          <p:cNvSpPr txBox="1"/>
          <p:nvPr/>
        </p:nvSpPr>
        <p:spPr>
          <a:xfrm>
            <a:off x="8254007" y="2619375"/>
            <a:ext cx="9239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COMPLETED</a:t>
            </a:r>
            <a:endParaRPr b="1" i="0" sz="1050" u="none" cap="none" strike="noStrike">
              <a:solidFill>
                <a:srgbClr val="166534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28" name="Google Shape;328;p11"/>
          <p:cNvSpPr txBox="1"/>
          <p:nvPr/>
        </p:nvSpPr>
        <p:spPr>
          <a:xfrm>
            <a:off x="8254007" y="3105150"/>
            <a:ext cx="9239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COMPLETED</a:t>
            </a:r>
            <a:endParaRPr b="1" i="0" sz="1050" u="none" cap="none" strike="noStrike">
              <a:solidFill>
                <a:srgbClr val="166534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29" name="Google Shape;329;p11"/>
          <p:cNvSpPr txBox="1"/>
          <p:nvPr/>
        </p:nvSpPr>
        <p:spPr>
          <a:xfrm>
            <a:off x="8254007" y="3590925"/>
            <a:ext cx="9239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COMPLETED</a:t>
            </a:r>
            <a:endParaRPr b="1" i="0" sz="1050" u="none" cap="none" strike="noStrike">
              <a:solidFill>
                <a:srgbClr val="166534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30" name="Google Shape;330;p11"/>
          <p:cNvSpPr txBox="1"/>
          <p:nvPr/>
        </p:nvSpPr>
        <p:spPr>
          <a:xfrm>
            <a:off x="8254007" y="4076700"/>
            <a:ext cx="9239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COMPLETED</a:t>
            </a:r>
            <a:endParaRPr b="1" i="0" sz="1050" u="none" cap="none" strike="noStrike">
              <a:solidFill>
                <a:srgbClr val="166534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2"/>
          <p:cNvSpPr/>
          <p:nvPr/>
        </p:nvSpPr>
        <p:spPr>
          <a:xfrm>
            <a:off x="609600" y="3333750"/>
            <a:ext cx="10972800" cy="1143000"/>
          </a:xfrm>
          <a:prstGeom prst="roundRect">
            <a:avLst>
              <a:gd fmla="val 10000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2"/>
          <p:cNvSpPr/>
          <p:nvPr/>
        </p:nvSpPr>
        <p:spPr>
          <a:xfrm>
            <a:off x="609600" y="5876925"/>
            <a:ext cx="109728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2"/>
          <p:cNvSpPr/>
          <p:nvPr/>
        </p:nvSpPr>
        <p:spPr>
          <a:xfrm>
            <a:off x="2847975" y="3609975"/>
            <a:ext cx="2076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2"/>
          <p:cNvSpPr/>
          <p:nvPr/>
        </p:nvSpPr>
        <p:spPr>
          <a:xfrm>
            <a:off x="5229225" y="3609975"/>
            <a:ext cx="23241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2"/>
          <p:cNvSpPr/>
          <p:nvPr/>
        </p:nvSpPr>
        <p:spPr>
          <a:xfrm>
            <a:off x="609600" y="5876925"/>
            <a:ext cx="109728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2"/>
          <p:cNvSpPr/>
          <p:nvPr/>
        </p:nvSpPr>
        <p:spPr>
          <a:xfrm>
            <a:off x="2847975" y="3609975"/>
            <a:ext cx="9525" cy="5905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2"/>
          <p:cNvSpPr/>
          <p:nvPr/>
        </p:nvSpPr>
        <p:spPr>
          <a:xfrm>
            <a:off x="5229225" y="3609975"/>
            <a:ext cx="9525" cy="5905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2"/>
          <p:cNvSpPr txBox="1"/>
          <p:nvPr/>
        </p:nvSpPr>
        <p:spPr>
          <a:xfrm>
            <a:off x="609600" y="6096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PROJECT COMPLETION</a:t>
            </a:r>
            <a:endParaRPr b="1" i="0" sz="1050" u="none" cap="none" strike="noStrike">
              <a:solidFill>
                <a:srgbClr val="38BDF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43" name="Google Shape;343;p12"/>
          <p:cNvSpPr txBox="1"/>
          <p:nvPr/>
        </p:nvSpPr>
        <p:spPr>
          <a:xfrm>
            <a:off x="609600" y="857250"/>
            <a:ext cx="115824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Thank You &amp; Executive Sign-Off</a:t>
            </a:r>
            <a:endParaRPr b="1" i="0" sz="3000" u="none" cap="none" strike="noStrike">
              <a:solidFill>
                <a:srgbClr val="F8FAFC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44" name="Google Shape;344;p12"/>
          <p:cNvSpPr txBox="1"/>
          <p:nvPr/>
        </p:nvSpPr>
        <p:spPr>
          <a:xfrm>
            <a:off x="609600" y="1495425"/>
            <a:ext cx="69532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Bike Sharing Demand BI Solution is fully implemented and validated for deployment, providing automated daily intelligence for operational fleet managers.</a:t>
            </a:r>
            <a:endParaRPr b="0" i="0" sz="1350" u="none" cap="none" strike="noStrike">
              <a:solidFill>
                <a:srgbClr val="94A3B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45" name="Google Shape;345;p12"/>
          <p:cNvSpPr txBox="1"/>
          <p:nvPr/>
        </p:nvSpPr>
        <p:spPr>
          <a:xfrm>
            <a:off x="609600" y="6076950"/>
            <a:ext cx="41433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NextHikes IT Solutions — Analytics Project Submission</a:t>
            </a:r>
            <a:endParaRPr b="0" i="0" sz="1050" u="none" cap="none" strike="noStrike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46" name="Google Shape;346;p12"/>
          <p:cNvSpPr txBox="1"/>
          <p:nvPr/>
        </p:nvSpPr>
        <p:spPr>
          <a:xfrm>
            <a:off x="10115550" y="6076950"/>
            <a:ext cx="183356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Questions &amp; Discussion</a:t>
            </a:r>
            <a:endParaRPr b="1" i="0" sz="1050" u="none" cap="none" strike="noStrike">
              <a:solidFill>
                <a:srgbClr val="38BDF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47" name="Google Shape;347;p12"/>
          <p:cNvSpPr txBox="1"/>
          <p:nvPr/>
        </p:nvSpPr>
        <p:spPr>
          <a:xfrm>
            <a:off x="885825" y="3609975"/>
            <a:ext cx="207168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TOTAL RENTALS ANALYZED</a:t>
            </a:r>
            <a:endParaRPr b="0" i="0" sz="1050" u="none" cap="none" strike="noStrike">
              <a:solidFill>
                <a:srgbClr val="94A3B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48" name="Google Shape;348;p12"/>
          <p:cNvSpPr txBox="1"/>
          <p:nvPr/>
        </p:nvSpPr>
        <p:spPr>
          <a:xfrm>
            <a:off x="885825" y="3819525"/>
            <a:ext cx="207168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3.2M+</a:t>
            </a:r>
            <a:endParaRPr b="1" i="0" sz="2400" u="none" cap="none" strike="noStrike">
              <a:solidFill>
                <a:srgbClr val="38BDF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49" name="Google Shape;349;p12"/>
          <p:cNvSpPr txBox="1"/>
          <p:nvPr/>
        </p:nvSpPr>
        <p:spPr>
          <a:xfrm>
            <a:off x="3162300" y="3609975"/>
            <a:ext cx="220265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REBALANCING EFFICIENCY</a:t>
            </a:r>
            <a:endParaRPr b="0" i="0" sz="1050" u="none" cap="none" strike="noStrike">
              <a:solidFill>
                <a:srgbClr val="94A3B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50" name="Google Shape;350;p12"/>
          <p:cNvSpPr txBox="1"/>
          <p:nvPr/>
        </p:nvSpPr>
        <p:spPr>
          <a:xfrm>
            <a:off x="3162300" y="3819525"/>
            <a:ext cx="2202656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4ADE8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+28%</a:t>
            </a:r>
            <a:endParaRPr b="1" i="0" sz="2400" u="none" cap="none" strike="noStrike">
              <a:solidFill>
                <a:srgbClr val="4ADE8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51" name="Google Shape;351;p12"/>
          <p:cNvSpPr txBox="1"/>
          <p:nvPr/>
        </p:nvSpPr>
        <p:spPr>
          <a:xfrm>
            <a:off x="5543550" y="3609975"/>
            <a:ext cx="251221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REPORT AUTOMATION SAVINGS</a:t>
            </a:r>
            <a:endParaRPr b="0" i="0" sz="1050" u="none" cap="none" strike="noStrike">
              <a:solidFill>
                <a:srgbClr val="94A3B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52" name="Google Shape;352;p12"/>
          <p:cNvSpPr txBox="1"/>
          <p:nvPr/>
        </p:nvSpPr>
        <p:spPr>
          <a:xfrm>
            <a:off x="5543550" y="3819525"/>
            <a:ext cx="2512218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ACC1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12 hrs/wk</a:t>
            </a:r>
            <a:endParaRPr b="1" i="0" sz="2400" u="none" cap="none" strike="noStrike">
              <a:solidFill>
                <a:srgbClr val="FACC1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FACF563B277F4717B084634D784BC595_13</vt:lpwstr>
  </property>
</Properties>
</file>